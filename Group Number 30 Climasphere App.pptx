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5" r:id="rId5"/>
    <p:sldId id="259" r:id="rId6"/>
    <p:sldId id="260" r:id="rId7"/>
    <p:sldId id="261" r:id="rId8"/>
    <p:sldId id="295" r:id="rId9"/>
    <p:sldId id="262" r:id="rId10"/>
    <p:sldId id="287" r:id="rId11"/>
    <p:sldId id="288" r:id="rId12"/>
    <p:sldId id="297" r:id="rId13"/>
    <p:sldId id="296" r:id="rId14"/>
    <p:sldId id="289" r:id="rId15"/>
    <p:sldId id="290" r:id="rId16"/>
    <p:sldId id="267" r:id="rId17"/>
    <p:sldId id="283" r:id="rId18"/>
    <p:sldId id="291" r:id="rId19"/>
    <p:sldId id="276" r:id="rId20"/>
    <p:sldId id="292" r:id="rId21"/>
    <p:sldId id="280" r:id="rId22"/>
    <p:sldId id="293" r:id="rId23"/>
    <p:sldId id="286" r:id="rId24"/>
    <p:sldId id="294" r:id="rId25"/>
    <p:sldId id="272" r:id="rId26"/>
    <p:sldId id="273" r:id="rId27"/>
    <p:sldId id="274" r:id="rId28"/>
  </p:sldIdLst>
  <p:sldSz cx="12192000" cy="6858000"/>
  <p:notesSz cx="6858000" cy="9144000"/>
  <p:embeddedFontLst>
    <p:embeddedFont>
      <p:font typeface="Arial Bold" panose="020B0704020202020204" pitchFamily="34" charset="0"/>
      <p:regular r:id="rId30"/>
      <p:bold r:id="rId31"/>
    </p:embeddedFont>
    <p:embeddedFont>
      <p:font typeface="Calibri (MS)" panose="020B0604020202020204" charset="0"/>
      <p:regular r:id="rId32"/>
    </p:embeddedFont>
    <p:embeddedFont>
      <p:font typeface="Open Sans Condensed" panose="020B0604020202020204" charset="0"/>
      <p:regular r:id="rId33"/>
    </p:embeddedFont>
    <p:embeddedFont>
      <p:font typeface="Open Sans Condensed Bold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3030F-8C7E-4966-A52B-FE211BC52884}" v="75" dt="2026-07-19T17:45:34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5033" autoAdjust="0"/>
  </p:normalViewPr>
  <p:slideViewPr>
    <p:cSldViewPr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E13A4-80A2-4465-B7D1-DBDCE6720CB9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436CB-E7F1-4196-A802-26518688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71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4586" y="4698090"/>
            <a:ext cx="1525905" cy="1442971"/>
          </a:xfrm>
          <a:custGeom>
            <a:avLst/>
            <a:gdLst/>
            <a:ahLst/>
            <a:cxnLst/>
            <a:rect l="l" t="t" r="r" b="b"/>
            <a:pathLst>
              <a:path w="1525905" h="1442971">
                <a:moveTo>
                  <a:pt x="0" y="0"/>
                </a:moveTo>
                <a:lnTo>
                  <a:pt x="1525905" y="0"/>
                </a:lnTo>
                <a:lnTo>
                  <a:pt x="1525905" y="1442971"/>
                </a:lnTo>
                <a:lnTo>
                  <a:pt x="0" y="144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3798168" y="5990566"/>
            <a:ext cx="4365029" cy="300989"/>
          </a:xfrm>
          <a:custGeom>
            <a:avLst/>
            <a:gdLst/>
            <a:ahLst/>
            <a:cxnLst/>
            <a:rect l="l" t="t" r="r" b="b"/>
            <a:pathLst>
              <a:path w="4166616" h="280416">
                <a:moveTo>
                  <a:pt x="0" y="0"/>
                </a:moveTo>
                <a:lnTo>
                  <a:pt x="4166616" y="0"/>
                </a:lnTo>
                <a:lnTo>
                  <a:pt x="4166616" y="280416"/>
                </a:lnTo>
                <a:lnTo>
                  <a:pt x="0" y="280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914400" y="244735"/>
            <a:ext cx="9901866" cy="1308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sz="2402" b="1" dirty="0">
                <a:solidFill>
                  <a:srgbClr val="2F5597"/>
                </a:solidFill>
                <a:latin typeface="Calibri (MS)"/>
                <a:ea typeface="Calibri (MS)"/>
                <a:cs typeface="Calibri (MS)"/>
                <a:sym typeface="Calibri (MS)"/>
              </a:rPr>
              <a:t>Major Project Presentation</a:t>
            </a:r>
          </a:p>
          <a:p>
            <a:pPr algn="ctr">
              <a:lnSpc>
                <a:spcPts val="3359"/>
              </a:lnSpc>
            </a:pPr>
            <a:r>
              <a:rPr lang="en-US" sz="2400" b="1" dirty="0">
                <a:solidFill>
                  <a:srgbClr val="2F5597"/>
                </a:solidFill>
                <a:latin typeface="Arial Bold"/>
                <a:ea typeface="Arial Bold"/>
                <a:cs typeface="Arial Bold"/>
                <a:sym typeface="Arial Bold"/>
              </a:rPr>
              <a:t>An Interactive Real-Time System for Tracking and Analyzing Weather and Pollution Patterns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37637" y="1705963"/>
            <a:ext cx="1655392" cy="264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00" b="1" dirty="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71011" y="1925841"/>
            <a:ext cx="53159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00" b="1" dirty="0">
                <a:solidFill>
                  <a:srgbClr val="181717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8613" y="4107039"/>
            <a:ext cx="4781008" cy="293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Supervisor: Prof. </a:t>
            </a:r>
            <a:r>
              <a:rPr lang="en-US" dirty="0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Sagar Chakraborty</a:t>
            </a:r>
            <a:endParaRPr lang="en-US" sz="1800" dirty="0">
              <a:solidFill>
                <a:srgbClr val="2E75B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46376" y="2225736"/>
            <a:ext cx="6237914" cy="1876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Sandip Kundu – 27600122033 </a:t>
            </a:r>
          </a:p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Aditya </a:t>
            </a:r>
            <a:r>
              <a:rPr lang="en-US" sz="2000" b="1" dirty="0" err="1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Shee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</a:t>
            </a: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–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</a:t>
            </a: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27600122107</a:t>
            </a:r>
          </a:p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Rajan Mandal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</a:t>
            </a: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– 27600122144</a:t>
            </a:r>
          </a:p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Aniket Kumar – 27600122147 </a:t>
            </a:r>
          </a:p>
          <a:p>
            <a:pPr algn="ctr">
              <a:lnSpc>
                <a:spcPts val="2400"/>
              </a:lnSpc>
            </a:pPr>
            <a:r>
              <a:rPr lang="en-US" sz="2000" b="1" dirty="0">
                <a:solidFill>
                  <a:srgbClr val="181717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Pranab Kumar Ghosh – 27600122206</a:t>
            </a:r>
          </a:p>
          <a:p>
            <a:pPr algn="ctr">
              <a:lnSpc>
                <a:spcPts val="2520"/>
              </a:lnSpc>
            </a:pPr>
            <a:endParaRPr lang="en-US" sz="2000" b="1" dirty="0">
              <a:solidFill>
                <a:srgbClr val="181717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613587" y="2523849"/>
            <a:ext cx="59188" cy="31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4" b="1" dirty="0">
                <a:solidFill>
                  <a:srgbClr val="181717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15037" y="6000210"/>
            <a:ext cx="4248160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chemeClr val="tx2"/>
                </a:solidFill>
                <a:latin typeface="Calibri (MS)"/>
                <a:ea typeface="Calibri (MS)"/>
                <a:cs typeface="Calibri (MS)"/>
                <a:sym typeface="Calibri (MS)"/>
              </a:rPr>
              <a:t>Budge Budge Institute of Technology, Kolkata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15711" y="6282309"/>
            <a:ext cx="52692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16718" y="6432804"/>
            <a:ext cx="1681639" cy="27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 </a:t>
            </a:r>
            <a:r>
              <a:rPr lang="en-IN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July</a:t>
            </a:r>
            <a:r>
              <a:rPr lang="en-US" sz="18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,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80224" y="4477303"/>
            <a:ext cx="4563180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of Computer Science &amp; Engineering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69425" y="206492"/>
            <a:ext cx="890407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2756344" y="2019205"/>
            <a:ext cx="64903" cy="56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2004" dirty="0">
                <a:solidFill>
                  <a:srgbClr val="000000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00453" y="3028559"/>
            <a:ext cx="64980" cy="31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6" dirty="0">
                <a:solidFill>
                  <a:srgbClr val="000000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69425" y="206492"/>
            <a:ext cx="890407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- 2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EDB8D55-C9F0-CCA4-C990-62088DB2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63580"/>
            <a:ext cx="2863645" cy="1143000"/>
          </a:xfrm>
        </p:spPr>
        <p:txBody>
          <a:bodyPr/>
          <a:lstStyle/>
          <a:p>
            <a:r>
              <a:rPr lang="en-US" b="1" spc="-1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 Condensed"/>
                <a:cs typeface="Open Sans Condensed"/>
                <a:sym typeface="Open Sans Condensed"/>
              </a:rPr>
              <a:t>Objective</a:t>
            </a:r>
            <a:endParaRPr lang="en-IN" b="1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43C33D0-D31D-7DAB-3908-2FAB675C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04" y="914400"/>
            <a:ext cx="7765296" cy="5835977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Most existing weather and air quality applications provide only real-time data — they lack 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historical analysis, forecasting, and collaborative features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within a single platform, forcing users to depend on multiple separate applications for complete environmental information.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The objective of 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ClimaSphere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is to provide a 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unified platform for real-time weather monitoring, air quality analysis, and environmental forecasting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— addressing these limitations by integrating 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real-time data, historical analysis, predictive insights, </a:t>
            </a:r>
            <a:r>
              <a:rPr lang="en-GB" sz="1800" b="1" dirty="0">
                <a:solidFill>
                  <a:schemeClr val="bg2">
                    <a:lumMod val="25000"/>
                  </a:schemeClr>
                </a:solidFill>
              </a:rPr>
              <a:t>knowledge sharing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, and collaborative features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into a single application. It is designed to assist the 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general public, students, scientist, researchers, environmental analysts, educators, NGOs, government agencies, and environmental activists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in understanding environmental conditions, promoting awareness, supporting research, and making </a:t>
            </a:r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informed, data-driven decisions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9D503-FBB1-9437-2EBA-6A1CE7E45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377429"/>
            <a:ext cx="3901600" cy="2330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73013" y="982094"/>
            <a:ext cx="2316699" cy="521332"/>
            <a:chOff x="0" y="0"/>
            <a:chExt cx="2316696" cy="521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6734" cy="521335"/>
            </a:xfrm>
            <a:custGeom>
              <a:avLst/>
              <a:gdLst/>
              <a:ahLst/>
              <a:cxnLst/>
              <a:rect l="l" t="t" r="r" b="b"/>
              <a:pathLst>
                <a:path w="2316734" h="521335">
                  <a:moveTo>
                    <a:pt x="427863" y="451993"/>
                  </a:moveTo>
                  <a:cubicBezTo>
                    <a:pt x="454152" y="451993"/>
                    <a:pt x="473202" y="445262"/>
                    <a:pt x="484886" y="431927"/>
                  </a:cubicBezTo>
                  <a:cubicBezTo>
                    <a:pt x="496697" y="418465"/>
                    <a:pt x="502539" y="397002"/>
                    <a:pt x="502539" y="367411"/>
                  </a:cubicBezTo>
                  <a:cubicBezTo>
                    <a:pt x="502539" y="341249"/>
                    <a:pt x="498729" y="321691"/>
                    <a:pt x="491236" y="308737"/>
                  </a:cubicBezTo>
                  <a:cubicBezTo>
                    <a:pt x="483870" y="295783"/>
                    <a:pt x="475234" y="287655"/>
                    <a:pt x="465455" y="284480"/>
                  </a:cubicBezTo>
                  <a:cubicBezTo>
                    <a:pt x="455803" y="281178"/>
                    <a:pt x="443230" y="279527"/>
                    <a:pt x="427863" y="279527"/>
                  </a:cubicBezTo>
                  <a:lnTo>
                    <a:pt x="427863" y="451993"/>
                  </a:lnTo>
                  <a:close/>
                  <a:moveTo>
                    <a:pt x="427863" y="218567"/>
                  </a:moveTo>
                  <a:cubicBezTo>
                    <a:pt x="442341" y="218440"/>
                    <a:pt x="453898" y="216916"/>
                    <a:pt x="462661" y="214249"/>
                  </a:cubicBezTo>
                  <a:cubicBezTo>
                    <a:pt x="471424" y="211582"/>
                    <a:pt x="478536" y="204978"/>
                    <a:pt x="484251" y="194437"/>
                  </a:cubicBezTo>
                  <a:cubicBezTo>
                    <a:pt x="489966" y="183896"/>
                    <a:pt x="492760" y="167640"/>
                    <a:pt x="492760" y="145288"/>
                  </a:cubicBezTo>
                  <a:cubicBezTo>
                    <a:pt x="492760" y="117856"/>
                    <a:pt x="488569" y="98298"/>
                    <a:pt x="480187" y="86614"/>
                  </a:cubicBezTo>
                  <a:cubicBezTo>
                    <a:pt x="471805" y="75057"/>
                    <a:pt x="454406" y="69215"/>
                    <a:pt x="427863" y="69215"/>
                  </a:cubicBezTo>
                  <a:lnTo>
                    <a:pt x="427863" y="218567"/>
                  </a:lnTo>
                  <a:close/>
                  <a:moveTo>
                    <a:pt x="1275969" y="223012"/>
                  </a:moveTo>
                  <a:cubicBezTo>
                    <a:pt x="1303020" y="223012"/>
                    <a:pt x="1322451" y="216789"/>
                    <a:pt x="1334262" y="204343"/>
                  </a:cubicBezTo>
                  <a:cubicBezTo>
                    <a:pt x="1346073" y="191897"/>
                    <a:pt x="1352042" y="172339"/>
                    <a:pt x="1352042" y="145288"/>
                  </a:cubicBezTo>
                  <a:cubicBezTo>
                    <a:pt x="1352042" y="116713"/>
                    <a:pt x="1346073" y="96901"/>
                    <a:pt x="1334135" y="85852"/>
                  </a:cubicBezTo>
                  <a:cubicBezTo>
                    <a:pt x="1322197" y="74803"/>
                    <a:pt x="1302766" y="69215"/>
                    <a:pt x="1275969" y="69215"/>
                  </a:cubicBezTo>
                  <a:lnTo>
                    <a:pt x="1275969" y="223012"/>
                  </a:lnTo>
                  <a:close/>
                  <a:moveTo>
                    <a:pt x="170942" y="276479"/>
                  </a:moveTo>
                  <a:lnTo>
                    <a:pt x="149352" y="51562"/>
                  </a:lnTo>
                  <a:lnTo>
                    <a:pt x="141351" y="51562"/>
                  </a:lnTo>
                  <a:lnTo>
                    <a:pt x="119761" y="276479"/>
                  </a:lnTo>
                  <a:close/>
                  <a:moveTo>
                    <a:pt x="1641602" y="276479"/>
                  </a:moveTo>
                  <a:lnTo>
                    <a:pt x="1620012" y="51562"/>
                  </a:lnTo>
                  <a:lnTo>
                    <a:pt x="1612011" y="51562"/>
                  </a:lnTo>
                  <a:lnTo>
                    <a:pt x="1590421" y="276479"/>
                  </a:lnTo>
                  <a:close/>
                  <a:moveTo>
                    <a:pt x="0" y="512953"/>
                  </a:moveTo>
                  <a:lnTo>
                    <a:pt x="0" y="451993"/>
                  </a:lnTo>
                  <a:lnTo>
                    <a:pt x="31496" y="451993"/>
                  </a:lnTo>
                  <a:lnTo>
                    <a:pt x="86995" y="69215"/>
                  </a:lnTo>
                  <a:lnTo>
                    <a:pt x="51943" y="69215"/>
                  </a:lnTo>
                  <a:lnTo>
                    <a:pt x="51943" y="8255"/>
                  </a:lnTo>
                  <a:lnTo>
                    <a:pt x="238760" y="8255"/>
                  </a:lnTo>
                  <a:lnTo>
                    <a:pt x="238760" y="69215"/>
                  </a:lnTo>
                  <a:lnTo>
                    <a:pt x="203581" y="69215"/>
                  </a:lnTo>
                  <a:lnTo>
                    <a:pt x="259207" y="451993"/>
                  </a:lnTo>
                  <a:lnTo>
                    <a:pt x="290703" y="451993"/>
                  </a:lnTo>
                  <a:lnTo>
                    <a:pt x="290703" y="512953"/>
                  </a:lnTo>
                  <a:lnTo>
                    <a:pt x="155702" y="512953"/>
                  </a:lnTo>
                  <a:lnTo>
                    <a:pt x="155702" y="451993"/>
                  </a:lnTo>
                  <a:lnTo>
                    <a:pt x="187833" y="451993"/>
                  </a:lnTo>
                  <a:lnTo>
                    <a:pt x="175514" y="337439"/>
                  </a:lnTo>
                  <a:lnTo>
                    <a:pt x="115189" y="337439"/>
                  </a:lnTo>
                  <a:lnTo>
                    <a:pt x="102870" y="451993"/>
                  </a:lnTo>
                  <a:lnTo>
                    <a:pt x="135001" y="451993"/>
                  </a:lnTo>
                  <a:lnTo>
                    <a:pt x="135001" y="512953"/>
                  </a:lnTo>
                  <a:close/>
                  <a:moveTo>
                    <a:pt x="318008" y="512953"/>
                  </a:moveTo>
                  <a:lnTo>
                    <a:pt x="318008" y="451993"/>
                  </a:lnTo>
                  <a:lnTo>
                    <a:pt x="356489" y="451993"/>
                  </a:lnTo>
                  <a:lnTo>
                    <a:pt x="356489" y="69215"/>
                  </a:lnTo>
                  <a:lnTo>
                    <a:pt x="318008" y="69215"/>
                  </a:lnTo>
                  <a:lnTo>
                    <a:pt x="318008" y="8255"/>
                  </a:lnTo>
                  <a:lnTo>
                    <a:pt x="430530" y="8255"/>
                  </a:lnTo>
                  <a:cubicBezTo>
                    <a:pt x="472313" y="8255"/>
                    <a:pt x="505079" y="19939"/>
                    <a:pt x="528955" y="43180"/>
                  </a:cubicBezTo>
                  <a:cubicBezTo>
                    <a:pt x="552831" y="66294"/>
                    <a:pt x="564769" y="98171"/>
                    <a:pt x="564769" y="138557"/>
                  </a:cubicBezTo>
                  <a:cubicBezTo>
                    <a:pt x="564769" y="168402"/>
                    <a:pt x="558038" y="192913"/>
                    <a:pt x="544576" y="211963"/>
                  </a:cubicBezTo>
                  <a:cubicBezTo>
                    <a:pt x="530987" y="231013"/>
                    <a:pt x="512191" y="241935"/>
                    <a:pt x="488061" y="244602"/>
                  </a:cubicBezTo>
                  <a:lnTo>
                    <a:pt x="488061" y="245872"/>
                  </a:lnTo>
                  <a:cubicBezTo>
                    <a:pt x="515747" y="251333"/>
                    <a:pt x="537464" y="265303"/>
                    <a:pt x="553085" y="288036"/>
                  </a:cubicBezTo>
                  <a:cubicBezTo>
                    <a:pt x="568706" y="310642"/>
                    <a:pt x="576453" y="338328"/>
                    <a:pt x="576453" y="370840"/>
                  </a:cubicBezTo>
                  <a:cubicBezTo>
                    <a:pt x="576453" y="415163"/>
                    <a:pt x="563753" y="449834"/>
                    <a:pt x="538353" y="475107"/>
                  </a:cubicBezTo>
                  <a:cubicBezTo>
                    <a:pt x="512953" y="500380"/>
                    <a:pt x="476758" y="512953"/>
                    <a:pt x="429895" y="512953"/>
                  </a:cubicBezTo>
                  <a:close/>
                  <a:moveTo>
                    <a:pt x="929894" y="512953"/>
                  </a:moveTo>
                  <a:lnTo>
                    <a:pt x="929894" y="451993"/>
                  </a:lnTo>
                  <a:lnTo>
                    <a:pt x="969645" y="451993"/>
                  </a:lnTo>
                  <a:lnTo>
                    <a:pt x="969645" y="61595"/>
                  </a:lnTo>
                  <a:lnTo>
                    <a:pt x="926846" y="61595"/>
                  </a:lnTo>
                  <a:lnTo>
                    <a:pt x="926846" y="192786"/>
                  </a:lnTo>
                  <a:lnTo>
                    <a:pt x="873633" y="192786"/>
                  </a:lnTo>
                  <a:lnTo>
                    <a:pt x="873633" y="8255"/>
                  </a:lnTo>
                  <a:lnTo>
                    <a:pt x="1137158" y="8255"/>
                  </a:lnTo>
                  <a:lnTo>
                    <a:pt x="1137158" y="192786"/>
                  </a:lnTo>
                  <a:lnTo>
                    <a:pt x="1083945" y="192786"/>
                  </a:lnTo>
                  <a:lnTo>
                    <a:pt x="1083945" y="61595"/>
                  </a:lnTo>
                  <a:lnTo>
                    <a:pt x="1041019" y="61595"/>
                  </a:lnTo>
                  <a:lnTo>
                    <a:pt x="1041019" y="451993"/>
                  </a:lnTo>
                  <a:lnTo>
                    <a:pt x="1080897" y="451993"/>
                  </a:lnTo>
                  <a:lnTo>
                    <a:pt x="1080897" y="512953"/>
                  </a:lnTo>
                  <a:close/>
                  <a:moveTo>
                    <a:pt x="1162177" y="512953"/>
                  </a:moveTo>
                  <a:lnTo>
                    <a:pt x="1162177" y="451993"/>
                  </a:lnTo>
                  <a:lnTo>
                    <a:pt x="1204722" y="451993"/>
                  </a:lnTo>
                  <a:lnTo>
                    <a:pt x="1204722" y="69215"/>
                  </a:lnTo>
                  <a:lnTo>
                    <a:pt x="1162177" y="69215"/>
                  </a:lnTo>
                  <a:lnTo>
                    <a:pt x="1162177" y="8255"/>
                  </a:lnTo>
                  <a:lnTo>
                    <a:pt x="1288415" y="8255"/>
                  </a:lnTo>
                  <a:cubicBezTo>
                    <a:pt x="1331087" y="8255"/>
                    <a:pt x="1364742" y="20828"/>
                    <a:pt x="1389507" y="45847"/>
                  </a:cubicBezTo>
                  <a:cubicBezTo>
                    <a:pt x="1414272" y="70866"/>
                    <a:pt x="1426718" y="104013"/>
                    <a:pt x="1426718" y="145288"/>
                  </a:cubicBezTo>
                  <a:cubicBezTo>
                    <a:pt x="1426718" y="198628"/>
                    <a:pt x="1406652" y="238252"/>
                    <a:pt x="1366647" y="264160"/>
                  </a:cubicBezTo>
                  <a:lnTo>
                    <a:pt x="1421384" y="451993"/>
                  </a:lnTo>
                  <a:lnTo>
                    <a:pt x="1451483" y="451993"/>
                  </a:lnTo>
                  <a:lnTo>
                    <a:pt x="1451483" y="512953"/>
                  </a:lnTo>
                  <a:lnTo>
                    <a:pt x="1366266" y="512953"/>
                  </a:lnTo>
                  <a:lnTo>
                    <a:pt x="1304163" y="281940"/>
                  </a:lnTo>
                  <a:cubicBezTo>
                    <a:pt x="1296797" y="283210"/>
                    <a:pt x="1287399" y="283845"/>
                    <a:pt x="1275969" y="283845"/>
                  </a:cubicBezTo>
                  <a:lnTo>
                    <a:pt x="1275969" y="451993"/>
                  </a:lnTo>
                  <a:lnTo>
                    <a:pt x="1313561" y="451993"/>
                  </a:lnTo>
                  <a:lnTo>
                    <a:pt x="1313561" y="512953"/>
                  </a:lnTo>
                  <a:close/>
                  <a:moveTo>
                    <a:pt x="1470660" y="512953"/>
                  </a:moveTo>
                  <a:lnTo>
                    <a:pt x="1470660" y="451993"/>
                  </a:lnTo>
                  <a:lnTo>
                    <a:pt x="1502156" y="451993"/>
                  </a:lnTo>
                  <a:lnTo>
                    <a:pt x="1557782" y="69215"/>
                  </a:lnTo>
                  <a:lnTo>
                    <a:pt x="1522603" y="69215"/>
                  </a:lnTo>
                  <a:lnTo>
                    <a:pt x="1522603" y="8255"/>
                  </a:lnTo>
                  <a:lnTo>
                    <a:pt x="1709420" y="8255"/>
                  </a:lnTo>
                  <a:lnTo>
                    <a:pt x="1709420" y="69215"/>
                  </a:lnTo>
                  <a:lnTo>
                    <a:pt x="1674241" y="69215"/>
                  </a:lnTo>
                  <a:lnTo>
                    <a:pt x="1729867" y="451993"/>
                  </a:lnTo>
                  <a:lnTo>
                    <a:pt x="1761363" y="451993"/>
                  </a:lnTo>
                  <a:lnTo>
                    <a:pt x="1761363" y="512953"/>
                  </a:lnTo>
                  <a:lnTo>
                    <a:pt x="1626362" y="512953"/>
                  </a:lnTo>
                  <a:lnTo>
                    <a:pt x="1626362" y="451993"/>
                  </a:lnTo>
                  <a:lnTo>
                    <a:pt x="1658493" y="451993"/>
                  </a:lnTo>
                  <a:lnTo>
                    <a:pt x="1646174" y="337439"/>
                  </a:lnTo>
                  <a:lnTo>
                    <a:pt x="1585849" y="337439"/>
                  </a:lnTo>
                  <a:lnTo>
                    <a:pt x="1573530" y="451993"/>
                  </a:lnTo>
                  <a:lnTo>
                    <a:pt x="1605661" y="451993"/>
                  </a:lnTo>
                  <a:lnTo>
                    <a:pt x="1605661" y="512953"/>
                  </a:lnTo>
                  <a:close/>
                  <a:moveTo>
                    <a:pt x="2109470" y="512953"/>
                  </a:moveTo>
                  <a:lnTo>
                    <a:pt x="2109470" y="451993"/>
                  </a:lnTo>
                  <a:lnTo>
                    <a:pt x="2149221" y="451993"/>
                  </a:lnTo>
                  <a:lnTo>
                    <a:pt x="2149221" y="61595"/>
                  </a:lnTo>
                  <a:lnTo>
                    <a:pt x="2106422" y="61595"/>
                  </a:lnTo>
                  <a:lnTo>
                    <a:pt x="2106422" y="192786"/>
                  </a:lnTo>
                  <a:lnTo>
                    <a:pt x="2053209" y="192786"/>
                  </a:lnTo>
                  <a:lnTo>
                    <a:pt x="2053209" y="8255"/>
                  </a:lnTo>
                  <a:lnTo>
                    <a:pt x="2316734" y="8255"/>
                  </a:lnTo>
                  <a:lnTo>
                    <a:pt x="2316734" y="192786"/>
                  </a:lnTo>
                  <a:lnTo>
                    <a:pt x="2263521" y="192786"/>
                  </a:lnTo>
                  <a:lnTo>
                    <a:pt x="2263521" y="61595"/>
                  </a:lnTo>
                  <a:lnTo>
                    <a:pt x="2220595" y="61595"/>
                  </a:lnTo>
                  <a:lnTo>
                    <a:pt x="2220595" y="451993"/>
                  </a:lnTo>
                  <a:lnTo>
                    <a:pt x="2260473" y="451993"/>
                  </a:lnTo>
                  <a:lnTo>
                    <a:pt x="2260473" y="512953"/>
                  </a:lnTo>
                  <a:close/>
                  <a:moveTo>
                    <a:pt x="742061" y="521335"/>
                  </a:moveTo>
                  <a:cubicBezTo>
                    <a:pt x="721233" y="521335"/>
                    <a:pt x="703199" y="513334"/>
                    <a:pt x="687959" y="497205"/>
                  </a:cubicBezTo>
                  <a:lnTo>
                    <a:pt x="687959" y="512953"/>
                  </a:lnTo>
                  <a:lnTo>
                    <a:pt x="626999" y="512953"/>
                  </a:lnTo>
                  <a:lnTo>
                    <a:pt x="626999" y="339471"/>
                  </a:lnTo>
                  <a:lnTo>
                    <a:pt x="687959" y="339471"/>
                  </a:lnTo>
                  <a:lnTo>
                    <a:pt x="687959" y="386080"/>
                  </a:lnTo>
                  <a:cubicBezTo>
                    <a:pt x="687959" y="413004"/>
                    <a:pt x="690753" y="432054"/>
                    <a:pt x="696341" y="442976"/>
                  </a:cubicBezTo>
                  <a:cubicBezTo>
                    <a:pt x="701929" y="453898"/>
                    <a:pt x="711708" y="459359"/>
                    <a:pt x="725678" y="459359"/>
                  </a:cubicBezTo>
                  <a:cubicBezTo>
                    <a:pt x="736346" y="459359"/>
                    <a:pt x="745109" y="454914"/>
                    <a:pt x="751713" y="446024"/>
                  </a:cubicBezTo>
                  <a:cubicBezTo>
                    <a:pt x="758317" y="437134"/>
                    <a:pt x="761619" y="425196"/>
                    <a:pt x="761619" y="410210"/>
                  </a:cubicBezTo>
                  <a:cubicBezTo>
                    <a:pt x="761619" y="397510"/>
                    <a:pt x="759333" y="383667"/>
                    <a:pt x="754761" y="368554"/>
                  </a:cubicBezTo>
                  <a:cubicBezTo>
                    <a:pt x="750062" y="353568"/>
                    <a:pt x="744601" y="341122"/>
                    <a:pt x="738251" y="331216"/>
                  </a:cubicBezTo>
                  <a:cubicBezTo>
                    <a:pt x="731774" y="321437"/>
                    <a:pt x="715518" y="299974"/>
                    <a:pt x="689483" y="266954"/>
                  </a:cubicBezTo>
                  <a:cubicBezTo>
                    <a:pt x="662559" y="232918"/>
                    <a:pt x="644652" y="205613"/>
                    <a:pt x="635762" y="184912"/>
                  </a:cubicBezTo>
                  <a:cubicBezTo>
                    <a:pt x="626872" y="164211"/>
                    <a:pt x="622300" y="140081"/>
                    <a:pt x="622300" y="112395"/>
                  </a:cubicBezTo>
                  <a:cubicBezTo>
                    <a:pt x="622300" y="79375"/>
                    <a:pt x="629793" y="52451"/>
                    <a:pt x="644652" y="31369"/>
                  </a:cubicBezTo>
                  <a:cubicBezTo>
                    <a:pt x="659384" y="10414"/>
                    <a:pt x="678434" y="0"/>
                    <a:pt x="701675" y="0"/>
                  </a:cubicBezTo>
                  <a:cubicBezTo>
                    <a:pt x="721106" y="0"/>
                    <a:pt x="738124" y="7747"/>
                    <a:pt x="752602" y="23368"/>
                  </a:cubicBezTo>
                  <a:lnTo>
                    <a:pt x="752602" y="8255"/>
                  </a:lnTo>
                  <a:lnTo>
                    <a:pt x="813562" y="8255"/>
                  </a:lnTo>
                  <a:lnTo>
                    <a:pt x="813562" y="159004"/>
                  </a:lnTo>
                  <a:lnTo>
                    <a:pt x="752602" y="159004"/>
                  </a:lnTo>
                  <a:lnTo>
                    <a:pt x="752602" y="120777"/>
                  </a:lnTo>
                  <a:cubicBezTo>
                    <a:pt x="752602" y="99822"/>
                    <a:pt x="749935" y="84709"/>
                    <a:pt x="744601" y="75438"/>
                  </a:cubicBezTo>
                  <a:cubicBezTo>
                    <a:pt x="739140" y="66167"/>
                    <a:pt x="730758" y="61595"/>
                    <a:pt x="719074" y="61595"/>
                  </a:cubicBezTo>
                  <a:cubicBezTo>
                    <a:pt x="699516" y="61595"/>
                    <a:pt x="689610" y="73914"/>
                    <a:pt x="689610" y="98679"/>
                  </a:cubicBezTo>
                  <a:cubicBezTo>
                    <a:pt x="689610" y="112903"/>
                    <a:pt x="692531" y="127635"/>
                    <a:pt x="698373" y="142621"/>
                  </a:cubicBezTo>
                  <a:cubicBezTo>
                    <a:pt x="704342" y="157734"/>
                    <a:pt x="714502" y="174117"/>
                    <a:pt x="728980" y="192024"/>
                  </a:cubicBezTo>
                  <a:lnTo>
                    <a:pt x="760349" y="230886"/>
                  </a:lnTo>
                  <a:cubicBezTo>
                    <a:pt x="807847" y="289941"/>
                    <a:pt x="831596" y="346202"/>
                    <a:pt x="831596" y="399796"/>
                  </a:cubicBezTo>
                  <a:cubicBezTo>
                    <a:pt x="831596" y="434848"/>
                    <a:pt x="823087" y="463804"/>
                    <a:pt x="805942" y="486791"/>
                  </a:cubicBezTo>
                  <a:cubicBezTo>
                    <a:pt x="788797" y="509778"/>
                    <a:pt x="767461" y="521335"/>
                    <a:pt x="742061" y="521335"/>
                  </a:cubicBezTo>
                  <a:close/>
                  <a:moveTo>
                    <a:pt x="1903857" y="521335"/>
                  </a:moveTo>
                  <a:cubicBezTo>
                    <a:pt x="1863725" y="521335"/>
                    <a:pt x="1833880" y="500253"/>
                    <a:pt x="1814449" y="458216"/>
                  </a:cubicBezTo>
                  <a:cubicBezTo>
                    <a:pt x="1795018" y="416179"/>
                    <a:pt x="1785366" y="352044"/>
                    <a:pt x="1785366" y="266192"/>
                  </a:cubicBezTo>
                  <a:cubicBezTo>
                    <a:pt x="1785366" y="88646"/>
                    <a:pt x="1819529" y="0"/>
                    <a:pt x="1888109" y="0"/>
                  </a:cubicBezTo>
                  <a:cubicBezTo>
                    <a:pt x="1912239" y="0"/>
                    <a:pt x="1930527" y="10922"/>
                    <a:pt x="1943100" y="32766"/>
                  </a:cubicBezTo>
                  <a:lnTo>
                    <a:pt x="1944370" y="32766"/>
                  </a:lnTo>
                  <a:lnTo>
                    <a:pt x="1944370" y="8255"/>
                  </a:lnTo>
                  <a:lnTo>
                    <a:pt x="2005330" y="8255"/>
                  </a:lnTo>
                  <a:lnTo>
                    <a:pt x="2005330" y="172085"/>
                  </a:lnTo>
                  <a:lnTo>
                    <a:pt x="1944370" y="172085"/>
                  </a:lnTo>
                  <a:cubicBezTo>
                    <a:pt x="1944370" y="137922"/>
                    <a:pt x="1940433" y="111760"/>
                    <a:pt x="1932686" y="93726"/>
                  </a:cubicBezTo>
                  <a:cubicBezTo>
                    <a:pt x="1924939" y="75692"/>
                    <a:pt x="1913636" y="66548"/>
                    <a:pt x="1899158" y="66548"/>
                  </a:cubicBezTo>
                  <a:cubicBezTo>
                    <a:pt x="1888490" y="66548"/>
                    <a:pt x="1880743" y="70993"/>
                    <a:pt x="1875917" y="79629"/>
                  </a:cubicBezTo>
                  <a:cubicBezTo>
                    <a:pt x="1871091" y="88392"/>
                    <a:pt x="1867789" y="105537"/>
                    <a:pt x="1866011" y="131318"/>
                  </a:cubicBezTo>
                  <a:cubicBezTo>
                    <a:pt x="1864233" y="157099"/>
                    <a:pt x="1863344" y="199136"/>
                    <a:pt x="1863344" y="257175"/>
                  </a:cubicBezTo>
                  <a:cubicBezTo>
                    <a:pt x="1863344" y="337058"/>
                    <a:pt x="1866138" y="389890"/>
                    <a:pt x="1871599" y="415798"/>
                  </a:cubicBezTo>
                  <a:cubicBezTo>
                    <a:pt x="1877060" y="441706"/>
                    <a:pt x="1888236" y="454660"/>
                    <a:pt x="1905254" y="454660"/>
                  </a:cubicBezTo>
                  <a:cubicBezTo>
                    <a:pt x="1919732" y="454660"/>
                    <a:pt x="1930273" y="445262"/>
                    <a:pt x="1937004" y="426593"/>
                  </a:cubicBezTo>
                  <a:cubicBezTo>
                    <a:pt x="1943735" y="407797"/>
                    <a:pt x="1947037" y="376682"/>
                    <a:pt x="1947037" y="333121"/>
                  </a:cubicBezTo>
                  <a:lnTo>
                    <a:pt x="2009648" y="350520"/>
                  </a:lnTo>
                  <a:cubicBezTo>
                    <a:pt x="2009267" y="403479"/>
                    <a:pt x="1999615" y="445135"/>
                    <a:pt x="1980946" y="475615"/>
                  </a:cubicBezTo>
                  <a:cubicBezTo>
                    <a:pt x="1962277" y="506095"/>
                    <a:pt x="1936496" y="521335"/>
                    <a:pt x="1903857" y="52133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Freeform 4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1066800" y="573813"/>
            <a:ext cx="3334207" cy="442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 Condensed"/>
                <a:cs typeface="Open Sans Condensed"/>
                <a:sym typeface="Open Sans Condensed"/>
              </a:rPr>
              <a:t>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208247"/>
            <a:ext cx="10340083" cy="5423045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ClimaSphere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full-stack web-based environmental intelligence platform developed using the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 Stack (MongoDB, Express.js, React.js, and Node.js). 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the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OpenWeather Weather API 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Air Pollution API 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monitoring of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humidity, wind speed, AQI, PM2.5, PM10, NO₂, SO₂, and CO 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locations worldwide. Historical datasets from 20+ Indian cities are analysed using Python for Exploratory Data Analysis and trend identification. Prophet-based forecasting predicts future AQI and weather conditions, deployed via </a:t>
            </a:r>
            <a:r>
              <a:rPr lang="en-IN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Authenticated users can publish analytical insights, download CSV datasets, and collaborate through community chat, voice calls, and social blogging, making ClimaSphere a unified platform for environmental monitoring, analysis, and awareness.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283" y="206492"/>
            <a:ext cx="890664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1">
            <a:extLst>
              <a:ext uri="{FF2B5EF4-FFF2-40B4-BE49-F238E27FC236}">
                <a16:creationId xmlns:a16="http://schemas.microsoft.com/office/drawing/2014/main" id="{E39A6E5F-C2A9-CB3C-6D7C-5708402E4AB3}"/>
              </a:ext>
            </a:extLst>
          </p:cNvPr>
          <p:cNvSpPr txBox="1"/>
          <p:nvPr/>
        </p:nvSpPr>
        <p:spPr>
          <a:xfrm>
            <a:off x="10797283" y="206492"/>
            <a:ext cx="890664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DA534F-1A04-41F0-0F42-574364A8D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05649"/>
              </p:ext>
            </p:extLst>
          </p:nvPr>
        </p:nvGraphicFramePr>
        <p:xfrm>
          <a:off x="1524000" y="994307"/>
          <a:ext cx="8991600" cy="5506487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36035698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67766335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343830789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53895329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338068452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272152585"/>
                    </a:ext>
                  </a:extLst>
                </a:gridCol>
              </a:tblGrid>
              <a:tr h="3602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Feature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Google Weather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 err="1"/>
                        <a:t>IQAir</a:t>
                      </a:r>
                      <a:endParaRPr lang="en-IN" sz="1400" b="1" dirty="0"/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OpenWeather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Govt Portals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ClimaSphere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4063817409"/>
                  </a:ext>
                </a:extLst>
              </a:tr>
              <a:tr h="437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Real-time Weather Data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210742855"/>
                  </a:ext>
                </a:extLst>
              </a:tr>
              <a:tr h="263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Real-time AQI Data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3814247171"/>
                  </a:ext>
                </a:extLst>
              </a:tr>
              <a:tr h="437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Weather + AQI Single Platform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945099071"/>
                  </a:ext>
                </a:extLst>
              </a:tr>
              <a:tr h="437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AQI Based on Multiple Pollutants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906991621"/>
                  </a:ext>
                </a:extLst>
              </a:tr>
              <a:tr h="437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Historical Data Access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⚠️ API Only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2815684758"/>
                  </a:ext>
                </a:extLst>
              </a:tr>
              <a:tr h="263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CSV Data Download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⚠️ API Only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2215577053"/>
                  </a:ext>
                </a:extLst>
              </a:tr>
              <a:tr h="489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Exploratory Data Analysis (EDA)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88778478"/>
                  </a:ext>
                </a:extLst>
              </a:tr>
              <a:tr h="263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AQI Forecasting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3172360713"/>
                  </a:ext>
                </a:extLst>
              </a:tr>
              <a:tr h="263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Weather Forecasting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3891241908"/>
                  </a:ext>
                </a:extLst>
              </a:tr>
              <a:tr h="437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Analysis &amp; Insights Repository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2832460162"/>
                  </a:ext>
                </a:extLst>
              </a:tr>
              <a:tr h="489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Community Chat &amp; Collaboration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1466347237"/>
                  </a:ext>
                </a:extLst>
              </a:tr>
              <a:tr h="489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User Authentication &amp; Profiles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Limited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 Yes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⚠️ API Only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1428946838"/>
                  </a:ext>
                </a:extLst>
              </a:tr>
              <a:tr h="437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Student / Research Platform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 No</a:t>
                      </a:r>
                    </a:p>
                  </a:txBody>
                  <a:tcPr marL="32099" marR="32099" marT="16050" marB="16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 Yes</a:t>
                      </a:r>
                    </a:p>
                  </a:txBody>
                  <a:tcPr marL="32099" marR="32099" marT="16050" marB="16050" anchor="ctr"/>
                </a:tc>
                <a:extLst>
                  <a:ext uri="{0D108BD9-81ED-4DB2-BD59-A6C34878D82A}">
                    <a16:rowId xmlns:a16="http://schemas.microsoft.com/office/drawing/2014/main" val="805291108"/>
                  </a:ext>
                </a:extLst>
              </a:tr>
            </a:tbl>
          </a:graphicData>
        </a:graphic>
      </p:graphicFrame>
      <p:sp>
        <p:nvSpPr>
          <p:cNvPr id="9" name="TextBox 4">
            <a:extLst>
              <a:ext uri="{FF2B5EF4-FFF2-40B4-BE49-F238E27FC236}">
                <a16:creationId xmlns:a16="http://schemas.microsoft.com/office/drawing/2014/main" id="{9A996D2C-8023-D5F5-B5C4-418C67BA1E26}"/>
              </a:ext>
            </a:extLst>
          </p:cNvPr>
          <p:cNvSpPr txBox="1"/>
          <p:nvPr/>
        </p:nvSpPr>
        <p:spPr>
          <a:xfrm>
            <a:off x="1524000" y="357206"/>
            <a:ext cx="8363408" cy="78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4800" b="1" spc="-1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 Condensed"/>
                <a:cs typeface="Open Sans Condensed"/>
                <a:sym typeface="Open Sans Condensed"/>
              </a:rPr>
              <a:t>COMPARATIVE TABLE</a:t>
            </a:r>
          </a:p>
          <a:p>
            <a:pPr>
              <a:lnSpc>
                <a:spcPts val="2700"/>
              </a:lnSpc>
            </a:pPr>
            <a:endParaRPr lang="en-US" sz="4800" b="1" spc="-10" dirty="0">
              <a:solidFill>
                <a:srgbClr val="000000"/>
              </a:solidFill>
              <a:ea typeface="Open Sans Condensed"/>
              <a:cs typeface="Open Sans Condensed"/>
              <a:sym typeface="Open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8615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7700" y="990343"/>
            <a:ext cx="4755232" cy="513083"/>
          </a:xfrm>
          <a:custGeom>
            <a:avLst/>
            <a:gdLst/>
            <a:ahLst/>
            <a:cxnLst/>
            <a:rect l="l" t="t" r="r" b="b"/>
            <a:pathLst>
              <a:path w="4755232" h="513083">
                <a:moveTo>
                  <a:pt x="0" y="0"/>
                </a:moveTo>
                <a:lnTo>
                  <a:pt x="4755232" y="0"/>
                </a:lnTo>
                <a:lnTo>
                  <a:pt x="4755232" y="513083"/>
                </a:lnTo>
                <a:lnTo>
                  <a:pt x="0" y="513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990600" y="699133"/>
            <a:ext cx="8363408" cy="78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Open Sans Condensed"/>
                <a:cs typeface="Open Sans Condensed"/>
                <a:sym typeface="Open Sans Condensed"/>
              </a:rPr>
              <a:t>LITERATURE REVIEW</a:t>
            </a:r>
          </a:p>
          <a:p>
            <a:pPr>
              <a:lnSpc>
                <a:spcPts val="2700"/>
              </a:lnSpc>
            </a:pPr>
            <a:endParaRPr lang="en-US" sz="5400" b="1" spc="-10" dirty="0">
              <a:solidFill>
                <a:srgbClr val="000000"/>
              </a:solidFill>
              <a:ea typeface="Open Sans Condensed"/>
              <a:cs typeface="Open Sans Condensed"/>
              <a:sym typeface="Open Sans 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75945" y="1879378"/>
            <a:ext cx="64903" cy="56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2004" dirty="0">
                <a:solidFill>
                  <a:srgbClr val="000000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600" y="1473879"/>
            <a:ext cx="9710723" cy="5001653"/>
          </a:xfrm>
          <a:prstGeom prst="roundRect">
            <a:avLst/>
          </a:prstGeom>
          <a:solidFill>
            <a:schemeClr val="bg2"/>
          </a:solidFill>
          <a:ln w="12700">
            <a:solidFill>
              <a:schemeClr val="bg2">
                <a:lumMod val="10000"/>
              </a:schemeClr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has become a critical research area due to rising concerns about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Recent studies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Grech et al. (2024)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Chadalavada et al. (2025)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that while modern platforms 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forecasting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most suffer from fragmented features — focusing either on monitoring or prediction, rarely combining both within a single system. Existing platforms such as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IQair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AccuWeather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primarily serve specific functionalities like weather display or AQI reporting. They lack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&amp; insights repository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exploration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collaboration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knowledge-sharing capabilities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forcing users to switch between multiple platforms for complete environmental information.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ClimaSphere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gap by combining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Prophet-based forecasting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Insights Repository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collaboration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unified web-based platform.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69425" y="206492"/>
            <a:ext cx="890407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895" y="2262378"/>
            <a:ext cx="1207884" cy="1207894"/>
          </a:xfrm>
          <a:custGeom>
            <a:avLst/>
            <a:gdLst/>
            <a:ahLst/>
            <a:cxnLst/>
            <a:rect l="l" t="t" r="r" b="b"/>
            <a:pathLst>
              <a:path w="1207884" h="1207894">
                <a:moveTo>
                  <a:pt x="0" y="0"/>
                </a:moveTo>
                <a:lnTo>
                  <a:pt x="1207884" y="0"/>
                </a:lnTo>
                <a:lnTo>
                  <a:pt x="1207884" y="1207894"/>
                </a:lnTo>
                <a:lnTo>
                  <a:pt x="0" y="120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4191000" y="206492"/>
            <a:ext cx="6172200" cy="1295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208"/>
              </a:lnSpc>
            </a:pPr>
            <a:r>
              <a:rPr lang="en-US" sz="5400" b="1" spc="-16" dirty="0">
                <a:solidFill>
                  <a:srgbClr val="000000"/>
                </a:solidFill>
                <a:latin typeface="+mj-lt"/>
                <a:ea typeface="Open Sans Condensed"/>
                <a:cs typeface="Open Sans Condensed"/>
                <a:sym typeface="Open Sans Condensed"/>
              </a:rPr>
              <a:t> </a:t>
            </a:r>
            <a:r>
              <a:rPr lang="en-US" sz="5400" b="1" spc="-16" dirty="0">
                <a:solidFill>
                  <a:schemeClr val="bg2">
                    <a:lumMod val="75000"/>
                  </a:schemeClr>
                </a:solidFill>
                <a:ea typeface="Open Sans Condensed"/>
                <a:cs typeface="Open Sans Condensed"/>
                <a:sym typeface="Open Sans Condensed"/>
              </a:rPr>
              <a:t>USED</a:t>
            </a:r>
            <a:r>
              <a:rPr lang="en-US" sz="5400" b="1" spc="-16" dirty="0">
                <a:solidFill>
                  <a:srgbClr val="000000"/>
                </a:solidFill>
                <a:ea typeface="Open Sans Condensed"/>
                <a:cs typeface="Open Sans Condensed"/>
                <a:sym typeface="Open Sans Condensed"/>
              </a:rPr>
              <a:t> </a:t>
            </a:r>
            <a:r>
              <a:rPr lang="en-US" sz="5400" b="1" spc="-16" dirty="0">
                <a:solidFill>
                  <a:schemeClr val="bg2">
                    <a:lumMod val="75000"/>
                  </a:schemeClr>
                </a:solidFill>
                <a:ea typeface="Open Sans Condensed"/>
                <a:cs typeface="Open Sans Condensed"/>
                <a:sym typeface="Open Sans Condensed"/>
              </a:rPr>
              <a:t>TECH</a:t>
            </a:r>
            <a:r>
              <a:rPr lang="en-US" sz="5400" b="1" spc="-16" dirty="0">
                <a:solidFill>
                  <a:srgbClr val="000000"/>
                </a:solidFill>
                <a:ea typeface="Open Sans Condensed"/>
                <a:cs typeface="Open Sans Condensed"/>
                <a:sym typeface="Open Sans Condensed"/>
              </a:rPr>
              <a:t> </a:t>
            </a:r>
            <a:r>
              <a:rPr lang="en-US" sz="5400" b="1" spc="-16" dirty="0">
                <a:solidFill>
                  <a:schemeClr val="bg2">
                    <a:lumMod val="75000"/>
                  </a:schemeClr>
                </a:solidFill>
                <a:ea typeface="Open Sans Condensed"/>
                <a:cs typeface="Open Sans Condensed"/>
                <a:sym typeface="Open Sans Condensed"/>
              </a:rPr>
              <a:t>STACK</a:t>
            </a:r>
            <a:endParaRPr lang="en-US" sz="5400" b="1" spc="-16" dirty="0">
              <a:solidFill>
                <a:srgbClr val="000000"/>
              </a:solidFill>
              <a:latin typeface="+mj-lt"/>
              <a:ea typeface="Open Sans Condensed"/>
              <a:cs typeface="Open Sans Condensed"/>
              <a:sym typeface="Open Sans 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64096" y="1447800"/>
            <a:ext cx="8099304" cy="5022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 v19, Tailwind CSS v4, Chart.js, Vite v7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v22, Express.js v5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v8, Mongoose v8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Socket.IO v4 </a:t>
            </a:r>
            <a:r>
              <a:rPr lang="en-IN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(Chat, Notifications)</a:t>
            </a:r>
            <a:endParaRPr lang="en-IN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Security: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Token),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Storage: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SDK v2, Multer v2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&amp; ML Libraries: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Matplotlib, Seaborn,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Poltly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Prophet Model,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 Deployment: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(AQI &amp; Weather Forecasting Apps)</a:t>
            </a:r>
            <a:endParaRPr lang="en-IN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Deployment: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Postman, Git, GitHub, VS Code, Jupyter Notebook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53398" y="206492"/>
            <a:ext cx="890407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- 6</a:t>
            </a:r>
          </a:p>
        </p:txBody>
      </p:sp>
      <p:pic>
        <p:nvPicPr>
          <p:cNvPr id="1026" name="Picture 2" descr="The MERN Stack: A Gateway to Full-Stack Development">
            <a:extLst>
              <a:ext uri="{FF2B5EF4-FFF2-40B4-BE49-F238E27FC236}">
                <a16:creationId xmlns:a16="http://schemas.microsoft.com/office/drawing/2014/main" id="{0EEF890F-2AF6-F008-BB15-0CEE50EF9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54" y="2499501"/>
            <a:ext cx="2906894" cy="163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76186" y="762000"/>
            <a:ext cx="5588500" cy="5397503"/>
          </a:xfrm>
          <a:custGeom>
            <a:avLst/>
            <a:gdLst/>
            <a:ahLst/>
            <a:cxnLst/>
            <a:rect l="l" t="t" r="r" b="b"/>
            <a:pathLst>
              <a:path w="4015235" h="6984997">
                <a:moveTo>
                  <a:pt x="0" y="0"/>
                </a:moveTo>
                <a:lnTo>
                  <a:pt x="4015235" y="0"/>
                </a:lnTo>
                <a:lnTo>
                  <a:pt x="4015235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User Authentication: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JWT-secured login, registration, and role-based access control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Analyst / Admin)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Environmental Data Acquisition: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 search or auto-location detection →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 Weather 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fetches live data → coordinates used to call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API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Data Processing &amp; Storage: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and AQI responses merged, validated, and stored in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Real-Time Dashboard: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 displayed via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interactive charts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— Historical Data &amp; EDA: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Indian city datasets analysed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(Pandas, Seaborn, Matplotlib)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— Forecasting: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AQI and weather forecasts, deployed via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— Insights &amp; Collaboration: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Analysts publish findings via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Insights Repository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users collaborate through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 and blogging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— Alerts &amp; Notifications: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weather alerts and AQI notifications delivered to users via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77000" y="228141"/>
            <a:ext cx="487253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319"/>
              </a:lnSpc>
            </a:pPr>
            <a:r>
              <a:rPr lang="en-US" sz="3995" b="1" spc="-7" dirty="0">
                <a:solidFill>
                  <a:schemeClr val="bg2">
                    <a:lumMod val="75000"/>
                  </a:schemeClr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PROPOSED</a:t>
            </a:r>
            <a:r>
              <a:rPr lang="en-US" sz="3995" b="1" spc="-7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3995" b="1" spc="-7" dirty="0">
                <a:solidFill>
                  <a:schemeClr val="bg2">
                    <a:lumMod val="75000"/>
                  </a:schemeClr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6390" y="1437894"/>
            <a:ext cx="58369" cy="49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 dirty="0">
                <a:solidFill>
                  <a:srgbClr val="9E3611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9807" y="174437"/>
            <a:ext cx="890664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5EF0E-D000-E441-2D81-77C5E6740F9D}"/>
              </a:ext>
            </a:extLst>
          </p:cNvPr>
          <p:cNvSpPr txBox="1"/>
          <p:nvPr/>
        </p:nvSpPr>
        <p:spPr>
          <a:xfrm>
            <a:off x="190325" y="220365"/>
            <a:ext cx="61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7" dirty="0">
                <a:solidFill>
                  <a:schemeClr val="accent2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Flow Chart of </a:t>
            </a:r>
            <a:r>
              <a:rPr lang="en-IN" b="1" spc="-7" dirty="0">
                <a:solidFill>
                  <a:schemeClr val="accent2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System Architecture </a:t>
            </a:r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CB074A-6986-2350-B206-368149D950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314" y="762000"/>
            <a:ext cx="5974080" cy="57226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77BA-705B-0650-BD2B-7F57B801D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17D85C4-6538-E9A7-29CF-4EDFF522F4BB}"/>
              </a:ext>
            </a:extLst>
          </p:cNvPr>
          <p:cNvSpPr txBox="1"/>
          <p:nvPr/>
        </p:nvSpPr>
        <p:spPr>
          <a:xfrm>
            <a:off x="9066390" y="1437894"/>
            <a:ext cx="58369" cy="49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1802" dirty="0">
                <a:solidFill>
                  <a:srgbClr val="9E3611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297C56-AEE1-EF66-0AF6-5A29CCD9B0A9}"/>
              </a:ext>
            </a:extLst>
          </p:cNvPr>
          <p:cNvSpPr txBox="1"/>
          <p:nvPr/>
        </p:nvSpPr>
        <p:spPr>
          <a:xfrm>
            <a:off x="11074022" y="17764"/>
            <a:ext cx="890664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2050-A0AE-94EB-C792-2695C096B367}"/>
              </a:ext>
            </a:extLst>
          </p:cNvPr>
          <p:cNvSpPr txBox="1"/>
          <p:nvPr/>
        </p:nvSpPr>
        <p:spPr>
          <a:xfrm>
            <a:off x="2986773" y="391731"/>
            <a:ext cx="61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-7" dirty="0">
                <a:solidFill>
                  <a:schemeClr val="accent2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Flow Chart of </a:t>
            </a:r>
            <a:r>
              <a:rPr lang="en-IN" b="1" spc="-7" dirty="0">
                <a:solidFill>
                  <a:schemeClr val="accent2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System Development </a:t>
            </a:r>
            <a:endParaRPr lang="en-I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305D56-42BD-2BE9-3E17-7909C11AE0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46" t="48198" r="44801" b="9321"/>
          <a:stretch>
            <a:fillRect/>
          </a:stretch>
        </p:blipFill>
        <p:spPr bwMode="auto">
          <a:xfrm>
            <a:off x="6887745" y="955739"/>
            <a:ext cx="4495800" cy="55198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12DB66-2EAB-757A-AF03-3F07A5E6D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22"/>
          <a:stretch>
            <a:fillRect/>
          </a:stretch>
        </p:blipFill>
        <p:spPr>
          <a:xfrm>
            <a:off x="152400" y="955739"/>
            <a:ext cx="6567504" cy="53688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35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7415" y="982094"/>
            <a:ext cx="7112041" cy="521332"/>
          </a:xfrm>
          <a:custGeom>
            <a:avLst/>
            <a:gdLst/>
            <a:ahLst/>
            <a:cxnLst/>
            <a:rect l="l" t="t" r="r" b="b"/>
            <a:pathLst>
              <a:path w="7112041" h="521332">
                <a:moveTo>
                  <a:pt x="0" y="0"/>
                </a:moveTo>
                <a:lnTo>
                  <a:pt x="7112041" y="0"/>
                </a:lnTo>
                <a:lnTo>
                  <a:pt x="7112041" y="521332"/>
                </a:lnTo>
                <a:lnTo>
                  <a:pt x="0" y="521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1187415" y="471578"/>
            <a:ext cx="7304342" cy="77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OVERVIEW OF USER INTERFACE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52621" y="1725606"/>
            <a:ext cx="120615" cy="76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9"/>
              </a:lnSpc>
            </a:pP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0757" y="1334291"/>
            <a:ext cx="3223165" cy="48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Sign in</a:t>
            </a:r>
            <a:r>
              <a:rPr lang="en-US" sz="2795" b="1" spc="-5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&amp;</a:t>
            </a:r>
            <a:r>
              <a:rPr lang="en-US" sz="2795" b="1" spc="-5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Sign</a:t>
            </a:r>
            <a:r>
              <a:rPr lang="en-US" sz="2795" b="1" spc="-5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up</a:t>
            </a:r>
            <a:r>
              <a:rPr lang="en-US" sz="2795" b="1" spc="-5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00" y="1354403"/>
            <a:ext cx="1635671" cy="48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Home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283" y="206492"/>
            <a:ext cx="890664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4AE38-5656-E329-694D-6DA2AF9914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064" y="2312691"/>
            <a:ext cx="5561484" cy="29454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5486EF-F948-7639-B252-A18938015D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 b="6876"/>
          <a:stretch>
            <a:fillRect/>
          </a:stretch>
        </p:blipFill>
        <p:spPr>
          <a:xfrm>
            <a:off x="98452" y="2193443"/>
            <a:ext cx="6250518" cy="31178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">
            <a:extLst>
              <a:ext uri="{FF2B5EF4-FFF2-40B4-BE49-F238E27FC236}">
                <a16:creationId xmlns:a16="http://schemas.microsoft.com/office/drawing/2014/main" id="{B9809088-D913-A436-4CA4-545A4254E434}"/>
              </a:ext>
            </a:extLst>
          </p:cNvPr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A4383-3745-F6FE-A762-CE99712A455C}"/>
              </a:ext>
            </a:extLst>
          </p:cNvPr>
          <p:cNvSpPr txBox="1"/>
          <p:nvPr/>
        </p:nvSpPr>
        <p:spPr>
          <a:xfrm>
            <a:off x="2452621" y="1725606"/>
            <a:ext cx="120615" cy="76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9"/>
              </a:lnSpc>
            </a:pPr>
            <a:r>
              <a:rPr lang="en-US" sz="2795" b="1" spc="-5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BA7C093-D1FD-0515-EF22-7564EDC24E6C}"/>
              </a:ext>
            </a:extLst>
          </p:cNvPr>
          <p:cNvSpPr txBox="1"/>
          <p:nvPr/>
        </p:nvSpPr>
        <p:spPr>
          <a:xfrm>
            <a:off x="3352800" y="609600"/>
            <a:ext cx="5486400" cy="459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IN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CHART SYSTEM</a:t>
            </a:r>
            <a:endParaRPr lang="en-US" sz="2795" b="1" spc="-5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7FE6FD3B-B6E6-CA6D-D72F-E53EA99295EB}"/>
              </a:ext>
            </a:extLst>
          </p:cNvPr>
          <p:cNvSpPr txBox="1"/>
          <p:nvPr/>
        </p:nvSpPr>
        <p:spPr>
          <a:xfrm>
            <a:off x="10797283" y="206492"/>
            <a:ext cx="890664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6166B8-8564-1122-CA35-85A6601F9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" b="6432"/>
          <a:stretch>
            <a:fillRect/>
          </a:stretch>
        </p:blipFill>
        <p:spPr>
          <a:xfrm>
            <a:off x="914400" y="1295400"/>
            <a:ext cx="10058400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49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D53A67C8-3E3E-76E2-F1D7-83AD230B94CE}"/>
              </a:ext>
            </a:extLst>
          </p:cNvPr>
          <p:cNvSpPr txBox="1"/>
          <p:nvPr/>
        </p:nvSpPr>
        <p:spPr>
          <a:xfrm>
            <a:off x="2514600" y="457200"/>
            <a:ext cx="7162800" cy="459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ANALYST</a:t>
            </a:r>
            <a:r>
              <a:rPr lang="en-IN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 REPOAITORY</a:t>
            </a:r>
            <a:endParaRPr lang="en-US" sz="2795" b="1" spc="-5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0591C0-585C-2CDE-F95D-9C8EB9EFE8B5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1D875-60D6-44DF-F520-5AE7036BA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5"/>
          <a:stretch>
            <a:fillRect/>
          </a:stretch>
        </p:blipFill>
        <p:spPr>
          <a:xfrm>
            <a:off x="1257114" y="1066800"/>
            <a:ext cx="9906000" cy="520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1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5DDC-3AD7-D490-99EF-E6D3436D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A1C264FE-D8B5-F8D6-ACFB-F9BE9242373C}"/>
              </a:ext>
            </a:extLst>
          </p:cNvPr>
          <p:cNvSpPr txBox="1"/>
          <p:nvPr/>
        </p:nvSpPr>
        <p:spPr>
          <a:xfrm>
            <a:off x="2514600" y="457200"/>
            <a:ext cx="7162800" cy="459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ANALYSIS &amp; </a:t>
            </a:r>
            <a:r>
              <a:rPr lang="en-IN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INSIGHTS REPOAITORY</a:t>
            </a:r>
            <a:endParaRPr lang="en-US" sz="2795" b="1" spc="-5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06F7E1-5529-B806-69DA-CEB5243A843E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5AD371-F73B-34B0-58D7-FF80F22BB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34"/>
          <a:stretch>
            <a:fillRect/>
          </a:stretch>
        </p:blipFill>
        <p:spPr>
          <a:xfrm>
            <a:off x="990600" y="1066800"/>
            <a:ext cx="9906000" cy="516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5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8139-9AD3-A4EA-ED35-2167D549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AA184F53-F464-153B-0C2C-B87C8366E41A}"/>
              </a:ext>
            </a:extLst>
          </p:cNvPr>
          <p:cNvSpPr txBox="1"/>
          <p:nvPr/>
        </p:nvSpPr>
        <p:spPr>
          <a:xfrm>
            <a:off x="2209800" y="457200"/>
            <a:ext cx="7772400" cy="459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SOCIAL MEDIA &amp; BLOG MODULE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06B6050-D2AD-0E55-B172-E6690BF8EFAF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272C89-FE47-1304-A854-7214DC774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5" t="8363" r="11340" b="5144"/>
          <a:stretch>
            <a:fillRect/>
          </a:stretch>
        </p:blipFill>
        <p:spPr>
          <a:xfrm>
            <a:off x="6096000" y="1621621"/>
            <a:ext cx="5970838" cy="37442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B02303-BCBB-7754-ED98-27BAABEB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8889" r="13125" b="5556"/>
          <a:stretch>
            <a:fillRect/>
          </a:stretch>
        </p:blipFill>
        <p:spPr>
          <a:xfrm>
            <a:off x="80866" y="1629335"/>
            <a:ext cx="5786534" cy="374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8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2BF2-DB7D-5957-D7BF-E25EC316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36B38626-7AEF-3357-DDDD-E4B10D1D024E}"/>
              </a:ext>
            </a:extLst>
          </p:cNvPr>
          <p:cNvSpPr txBox="1"/>
          <p:nvPr/>
        </p:nvSpPr>
        <p:spPr>
          <a:xfrm>
            <a:off x="3086100" y="457200"/>
            <a:ext cx="6019800" cy="467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AQI </a:t>
            </a:r>
            <a:r>
              <a:rPr lang="en-IN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FORECASTING SYSTEM</a:t>
            </a:r>
            <a:endParaRPr lang="en-US" sz="2795" b="1" spc="-5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76F66A0-1B9B-8582-8AAE-FC0FE220F947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F09880-8618-02F1-E5A5-48036679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30" y="1203644"/>
            <a:ext cx="11201400" cy="519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9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6851-D405-EEEF-D1C4-E3010ACC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3481D4B2-5554-40C8-ACC2-BA2C801DFBA9}"/>
              </a:ext>
            </a:extLst>
          </p:cNvPr>
          <p:cNvSpPr txBox="1"/>
          <p:nvPr/>
        </p:nvSpPr>
        <p:spPr>
          <a:xfrm>
            <a:off x="2590800" y="549309"/>
            <a:ext cx="7010400" cy="459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WEATHER </a:t>
            </a:r>
            <a:r>
              <a:rPr lang="en-IN" sz="2795" b="1" spc="-5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FORECASTING SYSTEM</a:t>
            </a:r>
            <a:endParaRPr lang="en-US" sz="2795" b="1" spc="-5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DCCF71-1C45-B09E-814B-BB31D0006347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6DAFF9-BB67-AD4C-C7B1-A3691003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33" y="1295400"/>
            <a:ext cx="11139430" cy="469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65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7415" y="982094"/>
            <a:ext cx="7525045" cy="521332"/>
          </a:xfrm>
          <a:custGeom>
            <a:avLst/>
            <a:gdLst/>
            <a:ahLst/>
            <a:cxnLst/>
            <a:rect l="l" t="t" r="r" b="b"/>
            <a:pathLst>
              <a:path w="7525045" h="521332">
                <a:moveTo>
                  <a:pt x="0" y="0"/>
                </a:moveTo>
                <a:lnTo>
                  <a:pt x="7525045" y="0"/>
                </a:lnTo>
                <a:lnTo>
                  <a:pt x="7525045" y="521332"/>
                </a:lnTo>
                <a:lnTo>
                  <a:pt x="0" y="521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158545" y="688327"/>
            <a:ext cx="9052255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OVERVIEW OF BACKEND SURFACE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5486" y="1806988"/>
            <a:ext cx="64903" cy="56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2004" b="1" spc="-4" dirty="0">
                <a:solidFill>
                  <a:srgbClr val="9E3611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7415" y="1310625"/>
            <a:ext cx="339606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4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Location wise database of weather and pollution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77000" y="1248460"/>
            <a:ext cx="5195830" cy="688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Mongoose schema of weather and pollution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4B56D-F7DF-36AD-88D0-9E3630C56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24" y="2054804"/>
            <a:ext cx="6117560" cy="40818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D3F671-A2DB-FF26-65CC-1A28AB8F1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054804"/>
            <a:ext cx="5445376" cy="41113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E050B3-0CA7-B795-CBC3-61887D68B022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D18E2E04-0095-6A49-BFC9-9EF1CD703F4C}"/>
              </a:ext>
            </a:extLst>
          </p:cNvPr>
          <p:cNvSpPr txBox="1"/>
          <p:nvPr/>
        </p:nvSpPr>
        <p:spPr>
          <a:xfrm>
            <a:off x="838200" y="762000"/>
            <a:ext cx="8592007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IN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EXPLORATORY DATA</a:t>
            </a: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5DDA3-65AB-3DD0-832E-5D4C2116F233}"/>
              </a:ext>
            </a:extLst>
          </p:cNvPr>
          <p:cNvSpPr txBox="1"/>
          <p:nvPr/>
        </p:nvSpPr>
        <p:spPr>
          <a:xfrm>
            <a:off x="609600" y="1223780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Weather Analysis: </a:t>
            </a:r>
            <a:r>
              <a:rPr lang="en-IN" sz="1800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Temperature Distribution 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1307AB37-BDF6-F48D-3F71-7B69CC6BBE25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AEA4F-999E-1894-B766-A8E49D9F5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1828800"/>
            <a:ext cx="5848117" cy="46591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E47CA7-66DD-597C-286D-63112617C229}"/>
              </a:ext>
            </a:extLst>
          </p:cNvPr>
          <p:cNvSpPr txBox="1"/>
          <p:nvPr/>
        </p:nvSpPr>
        <p:spPr>
          <a:xfrm>
            <a:off x="6935754" y="1419176"/>
            <a:ext cx="495144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" marR="36195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Chart Type: </a:t>
            </a: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Histogram with Kernel Density Estimation (KDE)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" marR="36195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Description: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The chart shows the distribution of temperature values (°C) across the dataset, indicating how frequently different temperature ranges occur.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" marR="36195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Key Insights: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6195" lvl="0" indent="-342900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Most temperature values are concentrated between 24°C and 34°C. 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6195" lvl="0" indent="-342900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highest frequency occurs around 29°C–30°C, representing the most common temperature range. 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6195" lvl="0" indent="-342900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Very low (&lt;10°C) and very high (&gt;40°C) temperatures occur rarely. 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6195" lvl="0" indent="-342900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smooth bell-shaped distribution indicates a consistent temperature pattern.</a:t>
            </a:r>
            <a:endParaRPr lang="en-I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59888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CA11-5ED3-34FB-DD4D-A2B15737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E8987-493C-E1E3-6DE0-E36D8D6381FE}"/>
              </a:ext>
            </a:extLst>
          </p:cNvPr>
          <p:cNvSpPr txBox="1"/>
          <p:nvPr/>
        </p:nvSpPr>
        <p:spPr>
          <a:xfrm>
            <a:off x="3047223" y="326139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Weather Analysis: </a:t>
            </a:r>
            <a:r>
              <a:rPr lang="en-IN" sz="1800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Top 5 Hottest &amp; Coldest Cities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5EA8C716-7E4F-6561-A2D6-A6C7ADF8CF94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0ABAE-E9B3-D3E4-32DD-CA19EC97EAD2}"/>
              </a:ext>
            </a:extLst>
          </p:cNvPr>
          <p:cNvSpPr txBox="1"/>
          <p:nvPr/>
        </p:nvSpPr>
        <p:spPr>
          <a:xfrm>
            <a:off x="4800600" y="1043731"/>
            <a:ext cx="6705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 Top 5 Hottest &amp; Coldest Cities by Average Temperature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charts compare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hottest and coldest cities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average temperature across the dataset.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highest average temperature 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30.1°C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closely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Nagpur, Hyderabad, and Ahmedabad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29.7°C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Surat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28.6°C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with relatively small differences among the top five. On the other end,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lowest average temperature 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24.1°C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Mysuru (24.3°C)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Lucknow, Patna, and Delhi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ranging between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26.0°C and 26.5°C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Overall, the temperature variation among both the hottest and coldest cities is relatively small, reflecting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warm climatic conditions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Indian cities with only moderate regional differences.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A59026-5B75-CB99-9C07-0A231C2FA5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196" y="960746"/>
            <a:ext cx="3762603" cy="566871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33365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3FC80542-04D1-56D6-22D5-BDC95E826B37}"/>
              </a:ext>
            </a:extLst>
          </p:cNvPr>
          <p:cNvSpPr txBox="1"/>
          <p:nvPr/>
        </p:nvSpPr>
        <p:spPr>
          <a:xfrm>
            <a:off x="838200" y="762000"/>
            <a:ext cx="8592007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IN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EXPLORATORY DATA</a:t>
            </a: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ANALYSIS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007DCF4-523B-389E-706F-29652F09E60C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DE706-4431-8880-E45E-3C73DF615A1C}"/>
              </a:ext>
            </a:extLst>
          </p:cNvPr>
          <p:cNvSpPr txBox="1"/>
          <p:nvPr/>
        </p:nvSpPr>
        <p:spPr>
          <a:xfrm>
            <a:off x="833535" y="1250991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IN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Pollution</a:t>
            </a: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 Analysis: </a:t>
            </a:r>
            <a:r>
              <a:rPr lang="en-IN" sz="1800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Temperature Distribution 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B10E1-AA96-B2B3-C1EA-5A8C4C9229ED}"/>
              </a:ext>
            </a:extLst>
          </p:cNvPr>
          <p:cNvSpPr txBox="1"/>
          <p:nvPr/>
        </p:nvSpPr>
        <p:spPr>
          <a:xfrm>
            <a:off x="7189237" y="1432772"/>
            <a:ext cx="4572000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Horizontal bar chart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displays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most polluted cities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their average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concentration (µg/m³)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cities with the highest particulate matter levels.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recorded the highest PM2.5 concentration, making it the most polluted city in the dataset.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Kanpur and Lucknow ranked second and third, respectively, with consistently high PM2.5 levels.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Varanasi, Jaipur, Patna, and Kolkata also recorded elevated PM2.5 concentrations.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Nagpur recorded the lowest PM2.5 concentration among the top 10 most polluted cities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B19B2-074E-1F5B-39C3-52AB3A9C8B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654" y="2002467"/>
            <a:ext cx="6572867" cy="392091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79873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26A71-5614-A886-CA2B-5981D5D0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>
            <a:extLst>
              <a:ext uri="{FF2B5EF4-FFF2-40B4-BE49-F238E27FC236}">
                <a16:creationId xmlns:a16="http://schemas.microsoft.com/office/drawing/2014/main" id="{20E18588-66D1-E94B-9925-138F495527D3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20</a:t>
            </a:r>
            <a:endParaRPr lang="en-US" sz="1800" b="1" spc="-3" dirty="0">
              <a:solidFill>
                <a:srgbClr val="000000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81116-5EEE-17D0-08D8-6DF188A0C4E8}"/>
              </a:ext>
            </a:extLst>
          </p:cNvPr>
          <p:cNvSpPr txBox="1"/>
          <p:nvPr/>
        </p:nvSpPr>
        <p:spPr>
          <a:xfrm>
            <a:off x="2819400" y="357206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</a:pPr>
            <a:r>
              <a:rPr lang="en-IN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Pollution</a:t>
            </a: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 Analysis: </a:t>
            </a:r>
            <a:r>
              <a:rPr lang="en-IN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Top 5 Cities by Avg. PM2.5 &amp; PM10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44A03-4329-ACE3-BFBD-7BE0227FA5DC}"/>
              </a:ext>
            </a:extLst>
          </p:cNvPr>
          <p:cNvSpPr txBox="1"/>
          <p:nvPr/>
        </p:nvSpPr>
        <p:spPr>
          <a:xfrm>
            <a:off x="4738396" y="938945"/>
            <a:ext cx="703683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 Top 5 Cities by Average PM2.5 &amp; PM10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charts illustrate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concentration levels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Indian cities and compare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cities by average PM2.5 and PM10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particulate matter concentrations recorded in the dataset.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highest PM2.5 concentration making it the most polluted city, followed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Kanpur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Lucknow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second and third positions respectively.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Varanasi, Jaipur, Patna, and Kolkata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recorded elevated PM2.5 levels while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Nagpur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lowest among the top 10. The same ranking pattern is observed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PM10 concentrations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confirming a very strong positive relationship between PM2.5 and PM10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(correlation: 0.99)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temperature difference among the top polluted cities is relatively small, highlighting that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Indian cities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consistently experience the highest particulate matter pollution levels.</a:t>
            </a:r>
          </a:p>
          <a:p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7E3E8-3C4C-0E8E-4973-A1D8F61386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943610"/>
            <a:ext cx="3733800" cy="56251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98468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EDEC46-16F1-8C93-E5C6-2C65C5B8F584}"/>
              </a:ext>
            </a:extLst>
          </p:cNvPr>
          <p:cNvSpPr txBox="1"/>
          <p:nvPr/>
        </p:nvSpPr>
        <p:spPr>
          <a:xfrm>
            <a:off x="838200" y="762000"/>
            <a:ext cx="8592007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IN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EXPLORATORY DATA</a:t>
            </a: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A6C8A-2838-E4CC-A7E3-EFAD73F7A0B4}"/>
              </a:ext>
            </a:extLst>
          </p:cNvPr>
          <p:cNvSpPr txBox="1"/>
          <p:nvPr/>
        </p:nvSpPr>
        <p:spPr>
          <a:xfrm>
            <a:off x="228600" y="1226235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AQI vs. Pollution Analysis: Pollutant </a:t>
            </a:r>
            <a:r>
              <a:rPr lang="en-IN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Correlation Heatmap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A4E13C03-822B-9001-2E3B-06C68AF54D00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21</a:t>
            </a:r>
            <a:endParaRPr lang="en-US" sz="1800" b="1" spc="-3" dirty="0">
              <a:solidFill>
                <a:srgbClr val="000000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8D9F18-4C5F-111C-54DE-D578F44B3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1979140"/>
            <a:ext cx="5681350" cy="3962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EE387F-F8DD-80FC-27B4-2ADE6795B5B2}"/>
              </a:ext>
            </a:extLst>
          </p:cNvPr>
          <p:cNvSpPr txBox="1"/>
          <p:nvPr/>
        </p:nvSpPr>
        <p:spPr>
          <a:xfrm>
            <a:off x="6415030" y="1411780"/>
            <a:ext cx="5257800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 heatmap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shows the correlation between major air pollutants and the AQI, indicating the strength of their linear relationships.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and PM10 show a very strong positive correlation (0.99).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AQI has a strong positive correlation with PM2.5 (0.97) and PM10 (0.96).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CO, NO, NO₂, O₃, SO₂, and NH₃ exhibit negligible correlations with AQI and with each other.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heatmap indicates that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and PM10 are the pollutants most strongly associated with AQI.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50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E17F-78D1-3DA7-A121-57A24242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>
            <a:extLst>
              <a:ext uri="{FF2B5EF4-FFF2-40B4-BE49-F238E27FC236}">
                <a16:creationId xmlns:a16="http://schemas.microsoft.com/office/drawing/2014/main" id="{0C16EFCE-53C8-ABFE-7044-FB53EBF4FB0A}"/>
              </a:ext>
            </a:extLst>
          </p:cNvPr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- 22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AF5F7-74F8-C50C-7CCB-4EB3E1E1FC20}"/>
              </a:ext>
            </a:extLst>
          </p:cNvPr>
          <p:cNvSpPr txBox="1"/>
          <p:nvPr/>
        </p:nvSpPr>
        <p:spPr>
          <a:xfrm>
            <a:off x="6561209" y="1059120"/>
            <a:ext cx="514583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Horizontal Bar Chart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chart displays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cities with the highest average AQI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the cities experiencing the poorest overall air quality.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recorded the highest average AQI among all cities.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Kanpur ranked second, followed by Lucknow and Varanasi.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Jaipur, Patna, and Kolkata also recorded consistently high average AQI values.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Nagpur recorded the lowest average AQI among the top 10 cities.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Overall, the chart indicates that </a:t>
            </a:r>
            <a:r>
              <a:rPr lang="en-IN" b="1" dirty="0"/>
              <a:t>Delhi and Kanpur</a:t>
            </a:r>
            <a:r>
              <a:rPr lang="en-IN" dirty="0"/>
              <a:t> experience the highest average AQI levels.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253151-4725-9BD5-C46C-78EF62AC47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722" y="1610441"/>
            <a:ext cx="6097554" cy="363711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C65BEF-A185-DCC2-5385-EAA609FD02A3}"/>
              </a:ext>
            </a:extLst>
          </p:cNvPr>
          <p:cNvSpPr txBox="1"/>
          <p:nvPr/>
        </p:nvSpPr>
        <p:spPr>
          <a:xfrm>
            <a:off x="3047223" y="507920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AQI vs. City Analysis: Top 10 Cities by Avg. AQI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02998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0F65E2CF-3786-8712-98C6-D69AD3ED9E3C}"/>
              </a:ext>
            </a:extLst>
          </p:cNvPr>
          <p:cNvSpPr txBox="1"/>
          <p:nvPr/>
        </p:nvSpPr>
        <p:spPr>
          <a:xfrm>
            <a:off x="10670270" y="228600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23</a:t>
            </a:r>
            <a:endParaRPr lang="en-US" sz="1800" b="1" spc="-3" dirty="0">
              <a:solidFill>
                <a:srgbClr val="000000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97FBB-EF2C-D096-532E-4AB1501BB6F0}"/>
              </a:ext>
            </a:extLst>
          </p:cNvPr>
          <p:cNvSpPr txBox="1"/>
          <p:nvPr/>
        </p:nvSpPr>
        <p:spPr>
          <a:xfrm>
            <a:off x="838200" y="762000"/>
            <a:ext cx="8592007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OVERVIEW OF MODEL OUTCOME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B98ED-C08D-5441-8053-B8DA3F542F7F}"/>
              </a:ext>
            </a:extLst>
          </p:cNvPr>
          <p:cNvSpPr txBox="1"/>
          <p:nvPr/>
        </p:nvSpPr>
        <p:spPr>
          <a:xfrm>
            <a:off x="228600" y="1358244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AQI Forecast : AQI Forecast For Kolkata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4931D-5AB1-7C28-7BAD-8B60D7366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133600"/>
            <a:ext cx="6183703" cy="33629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D57A2D-2E51-FF35-925A-22E64C07F363}"/>
              </a:ext>
            </a:extLst>
          </p:cNvPr>
          <p:cNvSpPr txBox="1"/>
          <p:nvPr/>
        </p:nvSpPr>
        <p:spPr>
          <a:xfrm>
            <a:off x="6553200" y="1200453"/>
            <a:ext cx="5145833" cy="558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Series Forecast Plot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(Prophet Model)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chart presents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AQI trend for Kolkata.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shaded region represents the forecast confidence interval.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 indicates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decline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AQI levels over the prediction period.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observed AQI values lie within the forecast confidence interval, indicating a reasonable model fit.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wider confidence interval in the forecast period reflects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uncertainty in long-term AQI predictions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the declining trend, the forecast suggests that AQI levels are expected to remain within the moderate air quality range</a:t>
            </a:r>
          </a:p>
        </p:txBody>
      </p:sp>
    </p:spTree>
    <p:extLst>
      <p:ext uri="{BB962C8B-B14F-4D97-AF65-F5344CB8AC3E}">
        <p14:creationId xmlns:p14="http://schemas.microsoft.com/office/powerpoint/2010/main" val="3936358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93BAB-C07A-2FE9-9361-5F975887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99B6D5EF-E5F4-B6C4-9F84-FAC069B18D5B}"/>
              </a:ext>
            </a:extLst>
          </p:cNvPr>
          <p:cNvSpPr txBox="1"/>
          <p:nvPr/>
        </p:nvSpPr>
        <p:spPr>
          <a:xfrm>
            <a:off x="11049000" y="152400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24</a:t>
            </a:r>
            <a:endParaRPr lang="en-US" sz="1800" b="1" spc="-3" dirty="0">
              <a:solidFill>
                <a:srgbClr val="000000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F78C9-CA0A-E100-C30A-BA5A94278C95}"/>
              </a:ext>
            </a:extLst>
          </p:cNvPr>
          <p:cNvSpPr txBox="1"/>
          <p:nvPr/>
        </p:nvSpPr>
        <p:spPr>
          <a:xfrm>
            <a:off x="838200" y="762000"/>
            <a:ext cx="8592007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5400" b="1" spc="-10" dirty="0">
                <a:solidFill>
                  <a:schemeClr val="bg2">
                    <a:lumMod val="75000"/>
                  </a:schemeClr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OVERVIEW OF MODEL OUTCOME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1DAB9-6067-BB95-66C0-B25E2144EC2F}"/>
              </a:ext>
            </a:extLst>
          </p:cNvPr>
          <p:cNvSpPr txBox="1"/>
          <p:nvPr/>
        </p:nvSpPr>
        <p:spPr>
          <a:xfrm>
            <a:off x="228600" y="1358244"/>
            <a:ext cx="6097554" cy="363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Weather Forecast : </a:t>
            </a:r>
            <a:r>
              <a:rPr lang="en-IN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Temperature</a:t>
            </a:r>
            <a:r>
              <a:rPr lang="en-US" b="1" spc="-4" dirty="0">
                <a:solidFill>
                  <a:srgbClr val="9E3611"/>
                </a:solidFill>
                <a:latin typeface="Times New Roman" panose="02020603050405020304" pitchFamily="18" charset="0"/>
                <a:ea typeface="Open Sans Condensed Bold"/>
                <a:cs typeface="Times New Roman" panose="02020603050405020304" pitchFamily="18" charset="0"/>
                <a:sym typeface="Open Sans Condensed Bold"/>
              </a:rPr>
              <a:t> Forecast For Goa</a:t>
            </a:r>
            <a:endParaRPr lang="en-US" sz="1800" b="1" spc="-4" dirty="0">
              <a:solidFill>
                <a:srgbClr val="9E3611"/>
              </a:solidFill>
              <a:latin typeface="Times New Roman" panose="02020603050405020304" pitchFamily="18" charset="0"/>
              <a:ea typeface="Open Sans Condensed Bold"/>
              <a:cs typeface="Times New Roman" panose="02020603050405020304" pitchFamily="18" charset="0"/>
              <a:sym typeface="Open Sans Condensed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D41ED2-0BFC-0CCC-10D5-B72CAF31828C}"/>
              </a:ext>
            </a:extLst>
          </p:cNvPr>
          <p:cNvSpPr txBox="1"/>
          <p:nvPr/>
        </p:nvSpPr>
        <p:spPr>
          <a:xfrm>
            <a:off x="6201285" y="1358244"/>
            <a:ext cx="5969012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Series Forecast Plot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(Prophet Model)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chart presents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temperature trend for Goa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blue line represents the predicted temperature, while the shaded region indicates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 confidence interval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forecast.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 indicates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upward trend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temperature during the forecast period.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temperatures increase gradually from 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26°C to 28°C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July 2026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 confidence interval remains relatively consistent.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abrupt fluctuations or extreme temperature changes are predicted during the forecast period.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 suggests that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 is expected to maintain warm and stable weather conditions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consistent with its coastal climate.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B60125-4F1A-9E70-5097-CDD4E7073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31" y="1912115"/>
            <a:ext cx="5816612" cy="35033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0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74128" y="369951"/>
            <a:ext cx="2612250" cy="425196"/>
            <a:chOff x="0" y="0"/>
            <a:chExt cx="2612250" cy="4251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2263" cy="425196"/>
            </a:xfrm>
            <a:custGeom>
              <a:avLst/>
              <a:gdLst/>
              <a:ahLst/>
              <a:cxnLst/>
              <a:rect l="l" t="t" r="r" b="b"/>
              <a:pathLst>
                <a:path w="2612263" h="425196">
                  <a:moveTo>
                    <a:pt x="1050671" y="181864"/>
                  </a:moveTo>
                  <a:cubicBezTo>
                    <a:pt x="1072769" y="181864"/>
                    <a:pt x="1088517" y="176784"/>
                    <a:pt x="1098169" y="166751"/>
                  </a:cubicBezTo>
                  <a:cubicBezTo>
                    <a:pt x="1107821" y="156591"/>
                    <a:pt x="1112647" y="140589"/>
                    <a:pt x="1112647" y="118491"/>
                  </a:cubicBezTo>
                  <a:cubicBezTo>
                    <a:pt x="1112647" y="95250"/>
                    <a:pt x="1107821" y="78994"/>
                    <a:pt x="1098042" y="69977"/>
                  </a:cubicBezTo>
                  <a:cubicBezTo>
                    <a:pt x="1088263" y="60960"/>
                    <a:pt x="1072515" y="56515"/>
                    <a:pt x="1050671" y="56515"/>
                  </a:cubicBezTo>
                  <a:lnTo>
                    <a:pt x="1050671" y="181864"/>
                  </a:lnTo>
                  <a:close/>
                  <a:moveTo>
                    <a:pt x="2211959" y="181864"/>
                  </a:moveTo>
                  <a:cubicBezTo>
                    <a:pt x="2234057" y="181864"/>
                    <a:pt x="2249805" y="176784"/>
                    <a:pt x="2259457" y="166751"/>
                  </a:cubicBezTo>
                  <a:cubicBezTo>
                    <a:pt x="2269109" y="156591"/>
                    <a:pt x="2273935" y="140589"/>
                    <a:pt x="2273935" y="118491"/>
                  </a:cubicBezTo>
                  <a:cubicBezTo>
                    <a:pt x="2273935" y="95250"/>
                    <a:pt x="2269109" y="78994"/>
                    <a:pt x="2259330" y="69977"/>
                  </a:cubicBezTo>
                  <a:cubicBezTo>
                    <a:pt x="2249551" y="60960"/>
                    <a:pt x="2233803" y="56515"/>
                    <a:pt x="2211959" y="56515"/>
                  </a:cubicBezTo>
                  <a:lnTo>
                    <a:pt x="2211959" y="181864"/>
                  </a:lnTo>
                  <a:close/>
                  <a:moveTo>
                    <a:pt x="1993773" y="370840"/>
                  </a:moveTo>
                  <a:cubicBezTo>
                    <a:pt x="2005838" y="370840"/>
                    <a:pt x="2014093" y="360172"/>
                    <a:pt x="2018538" y="338582"/>
                  </a:cubicBezTo>
                  <a:cubicBezTo>
                    <a:pt x="2022983" y="316992"/>
                    <a:pt x="2025269" y="276860"/>
                    <a:pt x="2025269" y="217678"/>
                  </a:cubicBezTo>
                  <a:cubicBezTo>
                    <a:pt x="2025269" y="153035"/>
                    <a:pt x="2023110" y="109601"/>
                    <a:pt x="2018919" y="87503"/>
                  </a:cubicBezTo>
                  <a:cubicBezTo>
                    <a:pt x="2014728" y="65405"/>
                    <a:pt x="2006346" y="54356"/>
                    <a:pt x="1993773" y="54356"/>
                  </a:cubicBezTo>
                  <a:cubicBezTo>
                    <a:pt x="1980565" y="54356"/>
                    <a:pt x="1971929" y="66548"/>
                    <a:pt x="1967865" y="90805"/>
                  </a:cubicBezTo>
                  <a:cubicBezTo>
                    <a:pt x="1963928" y="115062"/>
                    <a:pt x="1961896" y="157226"/>
                    <a:pt x="1961896" y="217043"/>
                  </a:cubicBezTo>
                  <a:cubicBezTo>
                    <a:pt x="1961896" y="276606"/>
                    <a:pt x="1964055" y="317119"/>
                    <a:pt x="1968500" y="338582"/>
                  </a:cubicBezTo>
                  <a:cubicBezTo>
                    <a:pt x="1973072" y="360172"/>
                    <a:pt x="1981454" y="370840"/>
                    <a:pt x="1993773" y="370840"/>
                  </a:cubicBezTo>
                  <a:close/>
                  <a:moveTo>
                    <a:pt x="0" y="418338"/>
                  </a:moveTo>
                  <a:lnTo>
                    <a:pt x="0" y="368681"/>
                  </a:lnTo>
                  <a:lnTo>
                    <a:pt x="29718" y="368681"/>
                  </a:lnTo>
                  <a:lnTo>
                    <a:pt x="29718" y="56515"/>
                  </a:lnTo>
                  <a:lnTo>
                    <a:pt x="0" y="56515"/>
                  </a:lnTo>
                  <a:lnTo>
                    <a:pt x="0" y="6858"/>
                  </a:lnTo>
                  <a:lnTo>
                    <a:pt x="190119" y="6858"/>
                  </a:lnTo>
                  <a:lnTo>
                    <a:pt x="190119" y="127000"/>
                  </a:lnTo>
                  <a:lnTo>
                    <a:pt x="140335" y="127000"/>
                  </a:lnTo>
                  <a:lnTo>
                    <a:pt x="140335" y="56515"/>
                  </a:lnTo>
                  <a:lnTo>
                    <a:pt x="87884" y="56515"/>
                  </a:lnTo>
                  <a:lnTo>
                    <a:pt x="87884" y="181356"/>
                  </a:lnTo>
                  <a:lnTo>
                    <a:pt x="130810" y="181356"/>
                  </a:lnTo>
                  <a:lnTo>
                    <a:pt x="130810" y="231013"/>
                  </a:lnTo>
                  <a:lnTo>
                    <a:pt x="87884" y="231013"/>
                  </a:lnTo>
                  <a:lnTo>
                    <a:pt x="87884" y="368681"/>
                  </a:lnTo>
                  <a:lnTo>
                    <a:pt x="122047" y="368681"/>
                  </a:lnTo>
                  <a:lnTo>
                    <a:pt x="122047" y="418338"/>
                  </a:lnTo>
                  <a:close/>
                  <a:moveTo>
                    <a:pt x="326136" y="425196"/>
                  </a:moveTo>
                  <a:cubicBezTo>
                    <a:pt x="298958" y="425196"/>
                    <a:pt x="277622" y="417068"/>
                    <a:pt x="261874" y="400685"/>
                  </a:cubicBezTo>
                  <a:cubicBezTo>
                    <a:pt x="246126" y="384302"/>
                    <a:pt x="238506" y="363093"/>
                    <a:pt x="238506" y="337312"/>
                  </a:cubicBezTo>
                  <a:lnTo>
                    <a:pt x="238506" y="56515"/>
                  </a:lnTo>
                  <a:lnTo>
                    <a:pt x="207010" y="56515"/>
                  </a:lnTo>
                  <a:lnTo>
                    <a:pt x="207010" y="6858"/>
                  </a:lnTo>
                  <a:lnTo>
                    <a:pt x="318516" y="6858"/>
                  </a:lnTo>
                  <a:lnTo>
                    <a:pt x="318516" y="56515"/>
                  </a:lnTo>
                  <a:lnTo>
                    <a:pt x="296672" y="56515"/>
                  </a:lnTo>
                  <a:lnTo>
                    <a:pt x="296672" y="320548"/>
                  </a:lnTo>
                  <a:cubicBezTo>
                    <a:pt x="296672" y="340487"/>
                    <a:pt x="299212" y="354457"/>
                    <a:pt x="304292" y="362585"/>
                  </a:cubicBezTo>
                  <a:cubicBezTo>
                    <a:pt x="309372" y="370713"/>
                    <a:pt x="318008" y="374650"/>
                    <a:pt x="330200" y="374650"/>
                  </a:cubicBezTo>
                  <a:cubicBezTo>
                    <a:pt x="342773" y="374650"/>
                    <a:pt x="351536" y="370586"/>
                    <a:pt x="356489" y="362331"/>
                  </a:cubicBezTo>
                  <a:cubicBezTo>
                    <a:pt x="361442" y="354076"/>
                    <a:pt x="363855" y="340233"/>
                    <a:pt x="363855" y="320548"/>
                  </a:cubicBezTo>
                  <a:lnTo>
                    <a:pt x="363855" y="56515"/>
                  </a:lnTo>
                  <a:lnTo>
                    <a:pt x="342519" y="56515"/>
                  </a:lnTo>
                  <a:lnTo>
                    <a:pt x="342519" y="6858"/>
                  </a:lnTo>
                  <a:lnTo>
                    <a:pt x="444119" y="6858"/>
                  </a:lnTo>
                  <a:lnTo>
                    <a:pt x="444119" y="56515"/>
                  </a:lnTo>
                  <a:lnTo>
                    <a:pt x="413512" y="56515"/>
                  </a:lnTo>
                  <a:lnTo>
                    <a:pt x="413512" y="318135"/>
                  </a:lnTo>
                  <a:cubicBezTo>
                    <a:pt x="413512" y="355473"/>
                    <a:pt x="405130" y="382651"/>
                    <a:pt x="388366" y="399669"/>
                  </a:cubicBezTo>
                  <a:cubicBezTo>
                    <a:pt x="371602" y="416687"/>
                    <a:pt x="350901" y="425196"/>
                    <a:pt x="326136" y="425196"/>
                  </a:cubicBezTo>
                  <a:close/>
                  <a:moveTo>
                    <a:pt x="511683" y="418338"/>
                  </a:moveTo>
                  <a:lnTo>
                    <a:pt x="511683" y="368681"/>
                  </a:lnTo>
                  <a:lnTo>
                    <a:pt x="544195" y="368681"/>
                  </a:lnTo>
                  <a:lnTo>
                    <a:pt x="544195" y="50292"/>
                  </a:lnTo>
                  <a:lnTo>
                    <a:pt x="509270" y="50292"/>
                  </a:lnTo>
                  <a:lnTo>
                    <a:pt x="509270" y="157353"/>
                  </a:lnTo>
                  <a:lnTo>
                    <a:pt x="465836" y="157353"/>
                  </a:lnTo>
                  <a:lnTo>
                    <a:pt x="465836" y="6858"/>
                  </a:lnTo>
                  <a:lnTo>
                    <a:pt x="680720" y="6858"/>
                  </a:lnTo>
                  <a:lnTo>
                    <a:pt x="680720" y="157353"/>
                  </a:lnTo>
                  <a:lnTo>
                    <a:pt x="637286" y="157353"/>
                  </a:lnTo>
                  <a:lnTo>
                    <a:pt x="637286" y="50292"/>
                  </a:lnTo>
                  <a:lnTo>
                    <a:pt x="602361" y="50292"/>
                  </a:lnTo>
                  <a:lnTo>
                    <a:pt x="602361" y="368681"/>
                  </a:lnTo>
                  <a:lnTo>
                    <a:pt x="634873" y="368681"/>
                  </a:lnTo>
                  <a:lnTo>
                    <a:pt x="634873" y="418338"/>
                  </a:lnTo>
                  <a:close/>
                  <a:moveTo>
                    <a:pt x="821436" y="425196"/>
                  </a:moveTo>
                  <a:cubicBezTo>
                    <a:pt x="794258" y="425196"/>
                    <a:pt x="772922" y="417068"/>
                    <a:pt x="757301" y="400685"/>
                  </a:cubicBezTo>
                  <a:cubicBezTo>
                    <a:pt x="741553" y="384302"/>
                    <a:pt x="733806" y="363093"/>
                    <a:pt x="733806" y="337312"/>
                  </a:cubicBezTo>
                  <a:lnTo>
                    <a:pt x="733806" y="56515"/>
                  </a:lnTo>
                  <a:lnTo>
                    <a:pt x="702310" y="56515"/>
                  </a:lnTo>
                  <a:lnTo>
                    <a:pt x="702310" y="6858"/>
                  </a:lnTo>
                  <a:lnTo>
                    <a:pt x="813816" y="6858"/>
                  </a:lnTo>
                  <a:lnTo>
                    <a:pt x="813816" y="56515"/>
                  </a:lnTo>
                  <a:lnTo>
                    <a:pt x="791972" y="56515"/>
                  </a:lnTo>
                  <a:lnTo>
                    <a:pt x="791972" y="320548"/>
                  </a:lnTo>
                  <a:cubicBezTo>
                    <a:pt x="791972" y="340487"/>
                    <a:pt x="794512" y="354457"/>
                    <a:pt x="799592" y="362585"/>
                  </a:cubicBezTo>
                  <a:cubicBezTo>
                    <a:pt x="804672" y="370713"/>
                    <a:pt x="813308" y="374650"/>
                    <a:pt x="825500" y="374650"/>
                  </a:cubicBezTo>
                  <a:cubicBezTo>
                    <a:pt x="838073" y="374650"/>
                    <a:pt x="846836" y="370586"/>
                    <a:pt x="851789" y="362331"/>
                  </a:cubicBezTo>
                  <a:cubicBezTo>
                    <a:pt x="856615" y="354203"/>
                    <a:pt x="859155" y="340233"/>
                    <a:pt x="859155" y="320548"/>
                  </a:cubicBezTo>
                  <a:lnTo>
                    <a:pt x="859155" y="56515"/>
                  </a:lnTo>
                  <a:lnTo>
                    <a:pt x="837819" y="56515"/>
                  </a:lnTo>
                  <a:lnTo>
                    <a:pt x="837819" y="6858"/>
                  </a:lnTo>
                  <a:lnTo>
                    <a:pt x="939419" y="6858"/>
                  </a:lnTo>
                  <a:lnTo>
                    <a:pt x="939419" y="56515"/>
                  </a:lnTo>
                  <a:lnTo>
                    <a:pt x="908812" y="56515"/>
                  </a:lnTo>
                  <a:lnTo>
                    <a:pt x="908812" y="318135"/>
                  </a:lnTo>
                  <a:cubicBezTo>
                    <a:pt x="908812" y="355473"/>
                    <a:pt x="900430" y="382651"/>
                    <a:pt x="883666" y="399669"/>
                  </a:cubicBezTo>
                  <a:cubicBezTo>
                    <a:pt x="866902" y="416687"/>
                    <a:pt x="846201" y="425196"/>
                    <a:pt x="821436" y="425196"/>
                  </a:cubicBezTo>
                  <a:close/>
                  <a:moveTo>
                    <a:pt x="957834" y="418338"/>
                  </a:moveTo>
                  <a:lnTo>
                    <a:pt x="957834" y="368681"/>
                  </a:lnTo>
                  <a:lnTo>
                    <a:pt x="992505" y="368681"/>
                  </a:lnTo>
                  <a:lnTo>
                    <a:pt x="992505" y="56515"/>
                  </a:lnTo>
                  <a:lnTo>
                    <a:pt x="957834" y="56515"/>
                  </a:lnTo>
                  <a:lnTo>
                    <a:pt x="957834" y="6858"/>
                  </a:lnTo>
                  <a:lnTo>
                    <a:pt x="1060831" y="6858"/>
                  </a:lnTo>
                  <a:cubicBezTo>
                    <a:pt x="1095502" y="6858"/>
                    <a:pt x="1123061" y="17018"/>
                    <a:pt x="1143254" y="37338"/>
                  </a:cubicBezTo>
                  <a:cubicBezTo>
                    <a:pt x="1163447" y="57658"/>
                    <a:pt x="1173607" y="84836"/>
                    <a:pt x="1173607" y="118491"/>
                  </a:cubicBezTo>
                  <a:cubicBezTo>
                    <a:pt x="1173607" y="162052"/>
                    <a:pt x="1157224" y="194310"/>
                    <a:pt x="1124585" y="215392"/>
                  </a:cubicBezTo>
                  <a:lnTo>
                    <a:pt x="1169162" y="368681"/>
                  </a:lnTo>
                  <a:lnTo>
                    <a:pt x="1193800" y="368681"/>
                  </a:lnTo>
                  <a:lnTo>
                    <a:pt x="1193800" y="418338"/>
                  </a:lnTo>
                  <a:lnTo>
                    <a:pt x="1124204" y="418338"/>
                  </a:lnTo>
                  <a:lnTo>
                    <a:pt x="1073658" y="229997"/>
                  </a:lnTo>
                  <a:cubicBezTo>
                    <a:pt x="1067562" y="231013"/>
                    <a:pt x="1059942" y="231521"/>
                    <a:pt x="1050671" y="231521"/>
                  </a:cubicBezTo>
                  <a:lnTo>
                    <a:pt x="1050671" y="368681"/>
                  </a:lnTo>
                  <a:lnTo>
                    <a:pt x="1081278" y="368681"/>
                  </a:lnTo>
                  <a:lnTo>
                    <a:pt x="1081278" y="418338"/>
                  </a:lnTo>
                  <a:close/>
                  <a:moveTo>
                    <a:pt x="1213104" y="418338"/>
                  </a:moveTo>
                  <a:lnTo>
                    <a:pt x="1213104" y="368681"/>
                  </a:lnTo>
                  <a:lnTo>
                    <a:pt x="1243457" y="368681"/>
                  </a:lnTo>
                  <a:lnTo>
                    <a:pt x="1243457" y="56515"/>
                  </a:lnTo>
                  <a:lnTo>
                    <a:pt x="1213104" y="56515"/>
                  </a:lnTo>
                  <a:lnTo>
                    <a:pt x="1213104" y="6858"/>
                  </a:lnTo>
                  <a:lnTo>
                    <a:pt x="1402588" y="6858"/>
                  </a:lnTo>
                  <a:lnTo>
                    <a:pt x="1402588" y="127000"/>
                  </a:lnTo>
                  <a:lnTo>
                    <a:pt x="1352931" y="127000"/>
                  </a:lnTo>
                  <a:lnTo>
                    <a:pt x="1352931" y="56515"/>
                  </a:lnTo>
                  <a:lnTo>
                    <a:pt x="1301623" y="56515"/>
                  </a:lnTo>
                  <a:lnTo>
                    <a:pt x="1301623" y="181356"/>
                  </a:lnTo>
                  <a:lnTo>
                    <a:pt x="1343406" y="181356"/>
                  </a:lnTo>
                  <a:lnTo>
                    <a:pt x="1343406" y="231013"/>
                  </a:lnTo>
                  <a:lnTo>
                    <a:pt x="1301623" y="231013"/>
                  </a:lnTo>
                  <a:lnTo>
                    <a:pt x="1301623" y="368681"/>
                  </a:lnTo>
                  <a:lnTo>
                    <a:pt x="1352931" y="368681"/>
                  </a:lnTo>
                  <a:lnTo>
                    <a:pt x="1352931" y="291973"/>
                  </a:lnTo>
                  <a:lnTo>
                    <a:pt x="1402588" y="291973"/>
                  </a:lnTo>
                  <a:lnTo>
                    <a:pt x="1402588" y="418338"/>
                  </a:lnTo>
                  <a:close/>
                  <a:moveTo>
                    <a:pt x="1641348" y="421640"/>
                  </a:moveTo>
                  <a:lnTo>
                    <a:pt x="1578102" y="56515"/>
                  </a:lnTo>
                  <a:lnTo>
                    <a:pt x="1553972" y="56515"/>
                  </a:lnTo>
                  <a:lnTo>
                    <a:pt x="1553972" y="6858"/>
                  </a:lnTo>
                  <a:lnTo>
                    <a:pt x="1659128" y="6858"/>
                  </a:lnTo>
                  <a:lnTo>
                    <a:pt x="1659128" y="56515"/>
                  </a:lnTo>
                  <a:lnTo>
                    <a:pt x="1634871" y="56515"/>
                  </a:lnTo>
                  <a:cubicBezTo>
                    <a:pt x="1650619" y="137668"/>
                    <a:pt x="1661795" y="220091"/>
                    <a:pt x="1668653" y="303657"/>
                  </a:cubicBezTo>
                  <a:cubicBezTo>
                    <a:pt x="1677162" y="219202"/>
                    <a:pt x="1688338" y="136779"/>
                    <a:pt x="1701800" y="56515"/>
                  </a:cubicBezTo>
                  <a:lnTo>
                    <a:pt x="1677162" y="56515"/>
                  </a:lnTo>
                  <a:lnTo>
                    <a:pt x="1677162" y="6858"/>
                  </a:lnTo>
                  <a:lnTo>
                    <a:pt x="1774444" y="6858"/>
                  </a:lnTo>
                  <a:lnTo>
                    <a:pt x="1774444" y="56515"/>
                  </a:lnTo>
                  <a:lnTo>
                    <a:pt x="1750441" y="56515"/>
                  </a:lnTo>
                  <a:cubicBezTo>
                    <a:pt x="1767459" y="143510"/>
                    <a:pt x="1779270" y="225933"/>
                    <a:pt x="1786001" y="303657"/>
                  </a:cubicBezTo>
                  <a:cubicBezTo>
                    <a:pt x="1790446" y="229362"/>
                    <a:pt x="1800860" y="147066"/>
                    <a:pt x="1817497" y="56515"/>
                  </a:cubicBezTo>
                  <a:lnTo>
                    <a:pt x="1793494" y="56515"/>
                  </a:lnTo>
                  <a:lnTo>
                    <a:pt x="1793494" y="6858"/>
                  </a:lnTo>
                  <a:lnTo>
                    <a:pt x="1890776" y="6858"/>
                  </a:lnTo>
                  <a:lnTo>
                    <a:pt x="1890776" y="56515"/>
                  </a:lnTo>
                  <a:lnTo>
                    <a:pt x="1867789" y="56515"/>
                  </a:lnTo>
                  <a:lnTo>
                    <a:pt x="1807591" y="421640"/>
                  </a:lnTo>
                  <a:lnTo>
                    <a:pt x="1760728" y="421640"/>
                  </a:lnTo>
                  <a:cubicBezTo>
                    <a:pt x="1740281" y="316230"/>
                    <a:pt x="1727327" y="236982"/>
                    <a:pt x="1721866" y="184023"/>
                  </a:cubicBezTo>
                  <a:cubicBezTo>
                    <a:pt x="1718945" y="223139"/>
                    <a:pt x="1707642" y="302387"/>
                    <a:pt x="1688084" y="421640"/>
                  </a:cubicBezTo>
                  <a:close/>
                  <a:moveTo>
                    <a:pt x="2119122" y="418338"/>
                  </a:moveTo>
                  <a:lnTo>
                    <a:pt x="2119122" y="368681"/>
                  </a:lnTo>
                  <a:lnTo>
                    <a:pt x="2153793" y="368681"/>
                  </a:lnTo>
                  <a:lnTo>
                    <a:pt x="2153793" y="56515"/>
                  </a:lnTo>
                  <a:lnTo>
                    <a:pt x="2119122" y="56515"/>
                  </a:lnTo>
                  <a:lnTo>
                    <a:pt x="2119122" y="6858"/>
                  </a:lnTo>
                  <a:lnTo>
                    <a:pt x="2222119" y="6858"/>
                  </a:lnTo>
                  <a:cubicBezTo>
                    <a:pt x="2256790" y="6858"/>
                    <a:pt x="2284349" y="17018"/>
                    <a:pt x="2304542" y="37338"/>
                  </a:cubicBezTo>
                  <a:cubicBezTo>
                    <a:pt x="2324735" y="57658"/>
                    <a:pt x="2334895" y="84836"/>
                    <a:pt x="2334895" y="118491"/>
                  </a:cubicBezTo>
                  <a:cubicBezTo>
                    <a:pt x="2334895" y="162052"/>
                    <a:pt x="2318512" y="194310"/>
                    <a:pt x="2285873" y="215392"/>
                  </a:cubicBezTo>
                  <a:lnTo>
                    <a:pt x="2330450" y="368681"/>
                  </a:lnTo>
                  <a:lnTo>
                    <a:pt x="2355088" y="368681"/>
                  </a:lnTo>
                  <a:lnTo>
                    <a:pt x="2355088" y="418338"/>
                  </a:lnTo>
                  <a:lnTo>
                    <a:pt x="2285492" y="418338"/>
                  </a:lnTo>
                  <a:lnTo>
                    <a:pt x="2234946" y="229997"/>
                  </a:lnTo>
                  <a:cubicBezTo>
                    <a:pt x="2228850" y="231013"/>
                    <a:pt x="2221230" y="231521"/>
                    <a:pt x="2211959" y="231521"/>
                  </a:cubicBezTo>
                  <a:lnTo>
                    <a:pt x="2211959" y="368681"/>
                  </a:lnTo>
                  <a:lnTo>
                    <a:pt x="2242566" y="368681"/>
                  </a:lnTo>
                  <a:lnTo>
                    <a:pt x="2242566" y="418338"/>
                  </a:lnTo>
                  <a:close/>
                  <a:moveTo>
                    <a:pt x="2374392" y="418338"/>
                  </a:moveTo>
                  <a:lnTo>
                    <a:pt x="2374392" y="368681"/>
                  </a:lnTo>
                  <a:lnTo>
                    <a:pt x="2403602" y="368681"/>
                  </a:lnTo>
                  <a:lnTo>
                    <a:pt x="2403602" y="56515"/>
                  </a:lnTo>
                  <a:lnTo>
                    <a:pt x="2374392" y="56515"/>
                  </a:lnTo>
                  <a:lnTo>
                    <a:pt x="2374392" y="6858"/>
                  </a:lnTo>
                  <a:lnTo>
                    <a:pt x="2485263" y="6858"/>
                  </a:lnTo>
                  <a:lnTo>
                    <a:pt x="2485263" y="56515"/>
                  </a:lnTo>
                  <a:lnTo>
                    <a:pt x="2461768" y="56515"/>
                  </a:lnTo>
                  <a:lnTo>
                    <a:pt x="2461768" y="368681"/>
                  </a:lnTo>
                  <a:lnTo>
                    <a:pt x="2485263" y="368681"/>
                  </a:lnTo>
                  <a:lnTo>
                    <a:pt x="2485263" y="418338"/>
                  </a:lnTo>
                  <a:close/>
                  <a:moveTo>
                    <a:pt x="2499741" y="418338"/>
                  </a:moveTo>
                  <a:lnTo>
                    <a:pt x="2499741" y="368681"/>
                  </a:lnTo>
                  <a:lnTo>
                    <a:pt x="2525903" y="368681"/>
                  </a:lnTo>
                  <a:lnTo>
                    <a:pt x="2466721" y="205867"/>
                  </a:lnTo>
                  <a:lnTo>
                    <a:pt x="2523617" y="56515"/>
                  </a:lnTo>
                  <a:lnTo>
                    <a:pt x="2498725" y="56515"/>
                  </a:lnTo>
                  <a:lnTo>
                    <a:pt x="2498725" y="6858"/>
                  </a:lnTo>
                  <a:lnTo>
                    <a:pt x="2602230" y="6858"/>
                  </a:lnTo>
                  <a:lnTo>
                    <a:pt x="2602230" y="56515"/>
                  </a:lnTo>
                  <a:lnTo>
                    <a:pt x="2575687" y="56515"/>
                  </a:lnTo>
                  <a:lnTo>
                    <a:pt x="2522220" y="195453"/>
                  </a:lnTo>
                  <a:lnTo>
                    <a:pt x="2585212" y="368681"/>
                  </a:lnTo>
                  <a:lnTo>
                    <a:pt x="2612263" y="368681"/>
                  </a:lnTo>
                  <a:lnTo>
                    <a:pt x="2612263" y="418338"/>
                  </a:lnTo>
                  <a:close/>
                  <a:moveTo>
                    <a:pt x="1993773" y="425196"/>
                  </a:moveTo>
                  <a:cubicBezTo>
                    <a:pt x="1961261" y="425196"/>
                    <a:pt x="1937131" y="407797"/>
                    <a:pt x="1921637" y="372999"/>
                  </a:cubicBezTo>
                  <a:cubicBezTo>
                    <a:pt x="1906143" y="338201"/>
                    <a:pt x="1898269" y="285496"/>
                    <a:pt x="1898269" y="214884"/>
                  </a:cubicBezTo>
                  <a:cubicBezTo>
                    <a:pt x="1898269" y="167640"/>
                    <a:pt x="1901952" y="127889"/>
                    <a:pt x="1909445" y="96012"/>
                  </a:cubicBezTo>
                  <a:cubicBezTo>
                    <a:pt x="1916938" y="64135"/>
                    <a:pt x="1927860" y="40005"/>
                    <a:pt x="1942211" y="24003"/>
                  </a:cubicBezTo>
                  <a:cubicBezTo>
                    <a:pt x="1956562" y="8001"/>
                    <a:pt x="1973834" y="0"/>
                    <a:pt x="1993773" y="0"/>
                  </a:cubicBezTo>
                  <a:cubicBezTo>
                    <a:pt x="2023999" y="0"/>
                    <a:pt x="2047494" y="17907"/>
                    <a:pt x="2064004" y="53975"/>
                  </a:cubicBezTo>
                  <a:cubicBezTo>
                    <a:pt x="2080514" y="89916"/>
                    <a:pt x="2088896" y="143510"/>
                    <a:pt x="2088896" y="214884"/>
                  </a:cubicBezTo>
                  <a:cubicBezTo>
                    <a:pt x="2088896" y="355092"/>
                    <a:pt x="2057146" y="425196"/>
                    <a:pt x="1993773" y="4251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" name="Freeform 4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919316" y="660352"/>
            <a:ext cx="4310225" cy="357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4400" b="1" spc="-8" dirty="0">
                <a:solidFill>
                  <a:schemeClr val="bg2">
                    <a:lumMod val="75000"/>
                  </a:schemeClr>
                </a:solidFill>
                <a:latin typeface="+mj-lt"/>
                <a:ea typeface="Open Sans Condensed"/>
                <a:cs typeface="Open Sans Condensed"/>
                <a:sym typeface="Open Sans Condensed"/>
              </a:rPr>
              <a:t>FUTURE </a:t>
            </a:r>
            <a:r>
              <a:rPr lang="en-US" sz="4404" b="1" spc="-8" dirty="0">
                <a:solidFill>
                  <a:schemeClr val="bg2">
                    <a:lumMod val="75000"/>
                  </a:schemeClr>
                </a:solidFill>
                <a:latin typeface="+mj-lt"/>
                <a:ea typeface="Open Sans Condensed"/>
                <a:cs typeface="Open Sans Condensed"/>
                <a:sym typeface="Open Sans Condensed"/>
              </a:rPr>
              <a:t>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5834" y="796709"/>
            <a:ext cx="51768" cy="45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15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52936" y="5472817"/>
            <a:ext cx="51683" cy="24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59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1283933"/>
            <a:ext cx="6419393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24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Key areas of future work include: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25</a:t>
            </a:r>
            <a:endParaRPr lang="en-US" sz="1800" b="1" spc="-3" dirty="0">
              <a:solidFill>
                <a:srgbClr val="000000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A6F82BC-7163-B9F2-3BD8-D51B9110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95993"/>
            <a:ext cx="9805664" cy="4525963"/>
          </a:xfr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Improved Forecasting: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Use advanced machine learning and deep learning models to improve the accuracy of weather and air quality predictions.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Scalable Data Storage: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Enhance the system to collect and store environmental data at shorter time intervals using cloud-based infrastructure, enabling long-term analysis and better scalability.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Smart Alerts: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Introduce real-time notifications for severe weather conditions and high pollution levels.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Enhanced Dashboard: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Add more interactive filters and comparative visualizations for deeper environmental analysis.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Wider Accessibility: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Develop a mobile application and support additional languages to make the platform accessible to a larger audience</a:t>
            </a:r>
            <a:endParaRPr lang="en-GB" sz="1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604696" y="1283113"/>
            <a:ext cx="64903" cy="56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2004" dirty="0">
                <a:solidFill>
                  <a:srgbClr val="000000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000000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26</a:t>
            </a:r>
            <a:endParaRPr lang="en-US" sz="1800" b="1" spc="-3" dirty="0">
              <a:solidFill>
                <a:srgbClr val="000000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EA0E01D-4A5D-2F9D-3855-8C3FA6DC9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8395"/>
            <a:ext cx="4202297" cy="11430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2">
                    <a:lumMod val="75000"/>
                  </a:schemeClr>
                </a:solidFill>
              </a:rPr>
              <a:t>CONCLUSION</a:t>
            </a:r>
            <a:endParaRPr lang="en-IN" sz="5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43BCE20-11E6-2348-7D24-A049F240B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15630" cy="48006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ClimaSphere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been successfully developed as an interactive web-based platform for </a:t>
            </a:r>
            <a:r>
              <a:rPr lang="en-IN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and air pollution monitoring, environmental data analysis, and forecasting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By integrating modern web technologies, reliable APIs, data visualization, and machine learning, the system provides users with a comprehensive solution for monitoring environmental conditions and exploring historical trends. Its scalable architecture, user-friendly interface, and collaborative features make the platform suitable for researchers, students, environmental analysts, and the general public. Overall, the project demonstrates an effective application of data-driven technologies to support environmental awareness and informed decision-making.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38179" y="6166180"/>
            <a:ext cx="584197" cy="584197"/>
          </a:xfrm>
          <a:custGeom>
            <a:avLst/>
            <a:gdLst/>
            <a:ahLst/>
            <a:cxnLst/>
            <a:rect l="l" t="t" r="r" b="b"/>
            <a:pathLst>
              <a:path w="584197" h="584197">
                <a:moveTo>
                  <a:pt x="0" y="0"/>
                </a:moveTo>
                <a:lnTo>
                  <a:pt x="584197" y="0"/>
                </a:lnTo>
                <a:lnTo>
                  <a:pt x="584197" y="584197"/>
                </a:lnTo>
                <a:lnTo>
                  <a:pt x="0" y="584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10653398" y="206492"/>
            <a:ext cx="1019432" cy="30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-3" dirty="0">
                <a:solidFill>
                  <a:srgbClr val="FFFFF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Page - </a:t>
            </a:r>
            <a:r>
              <a:rPr lang="en-US" b="1" spc="-3" dirty="0">
                <a:solidFill>
                  <a:srgbClr val="FFFFFF"/>
                </a:solidFill>
                <a:latin typeface="Open Sans Condensed Bold"/>
                <a:ea typeface="Open Sans Condensed Bold"/>
                <a:cs typeface="Open Sans Condensed Bold"/>
                <a:sym typeface="Open Sans Condensed Bold"/>
              </a:rPr>
              <a:t>27</a:t>
            </a:r>
            <a:endParaRPr lang="en-US" sz="1800" b="1" spc="-3" dirty="0">
              <a:solidFill>
                <a:srgbClr val="FFFFFF"/>
              </a:solidFill>
              <a:latin typeface="Open Sans Condensed Bold"/>
              <a:ea typeface="Open Sans Condensed Bold"/>
              <a:cs typeface="Open Sans Condensed Bold"/>
              <a:sym typeface="Open Sans Condense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1271</TotalTime>
  <Words>2346</Words>
  <Application>Microsoft Office PowerPoint</Application>
  <PresentationFormat>Widescreen</PresentationFormat>
  <Paragraphs>251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Open Sans Condensed Bold</vt:lpstr>
      <vt:lpstr>Arial</vt:lpstr>
      <vt:lpstr>Open Sans Condensed</vt:lpstr>
      <vt:lpstr>Times New Roman</vt:lpstr>
      <vt:lpstr>Calibri (MS)</vt:lpstr>
      <vt:lpstr>Arial Bold</vt:lpstr>
      <vt:lpstr>Calibri</vt:lpstr>
      <vt:lpstr>Wingdings</vt:lpstr>
      <vt:lpstr>Office Theme</vt:lpstr>
      <vt:lpstr>PowerPoint Presentation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Updated_Project_PPT[Final].pdf</dc:title>
  <dc:creator>Pranab</dc:creator>
  <cp:lastModifiedBy>SANDIP KUNDU</cp:lastModifiedBy>
  <cp:revision>18</cp:revision>
  <dcterms:created xsi:type="dcterms:W3CDTF">2006-08-16T00:00:00Z</dcterms:created>
  <dcterms:modified xsi:type="dcterms:W3CDTF">2026-07-19T18:01:11Z</dcterms:modified>
  <dc:identifier>DAG1xBCenms</dc:identifier>
</cp:coreProperties>
</file>